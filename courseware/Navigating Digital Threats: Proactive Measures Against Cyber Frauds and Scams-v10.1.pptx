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am-defense-singapore.png"/>
          <p:cNvPicPr>
            <a:picLocks noChangeAspect="1"/>
          </p:cNvPicPr>
          <p:nvPr/>
        </p:nvPicPr>
        <p:blipFill>
          <a:blip r:embed="rId2"/>
          <a:srcRect l="23425" r="23425"/>
          <a:stretch>
            <a:fillRect/>
          </a:stretch>
        </p:blipFill>
        <p:spPr>
          <a:xfrm>
            <a:off x="5715000" y="0"/>
            <a:ext cx="6476695" cy="6858000"/>
          </a:xfrm>
          <a:prstGeom prst="rect">
            <a:avLst/>
          </a:prstGeom>
          <a:ln w="12700">
            <a:solidFill>
              <a:srgbClr val="D7E2EE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5897880" cy="685800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76072"/>
            <a:ext cx="429768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rial"/>
              </a:rPr>
              <a:t>WSQ COURSEWARE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4617720" cy="2331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rial"/>
              </a:rPr>
              <a:t>Navigating Digital Threats: Proactive Measures Against Cyber Frauds and Scams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94760"/>
            <a:ext cx="4480560" cy="9601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400" b="1">
                <a:solidFill>
                  <a:srgbClr val="CDEBF5"/>
                </a:solidFill>
                <a:latin typeface="Arial"/>
              </a:rPr>
              <a:t>TGS-2024043420
ACC-ICT-3002-1.1 Cyber Security
Version v10.1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074920"/>
            <a:ext cx="2880360" cy="71323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1" y="5074920"/>
            <a:ext cx="2741552" cy="713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5897880"/>
            <a:ext cx="4572000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rial"/>
              </a:rPr>
              <a:t>Tertiary Infotech Academy Pte Ltd ·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fast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Digital Attendance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Complete AM, PM and assessment attendance through the trainer-provided SSG QR.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AM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Scan only the current trainer-displayed code.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PM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Repeat after lunch for the afternoon session.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Complete the separate assessment attendance.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Confirm the accepted attendance state before leaving.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General Trainer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Use a consistent visual profile for the assigned trainer.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Insert assigned trainer name.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List relevant qualifications and certifications.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State industry and adult-learning experience.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Provide the approved contact route.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About Dr Alfred Ang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Courseware lead and trainer for applied digital-risk learning.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Founder and adult educator.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AI, cloud and cybersecurity.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Evidence-led applied learning.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Contact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Use the official academy channel.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Ground Rules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Protect people and data while practising scam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Simulated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Use only the supplied fictional evidence.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Safe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Do not open live suspect links or files.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Evidence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Support decisions with observable facts.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Participate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Share reasoning without exposing personal data.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Course Schedule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One focused day from recognition through response.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Morning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Attack chains, signals and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Midday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device and payment controls.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Afternoon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Response, evidence and escalation.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Assessment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One hour: WA followed by Case Study.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Skills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ACC-ICT-3002-1.1 Cyber Security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Identify cyber risks and threats.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Protect personal and business information.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Interpret and escalate incidents.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Apply controls through eight activities.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Learning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Move from recognition to action with defensible evidence.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LO1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Identify potential fraud and scam threats.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LO2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Protect information, accounts and funds.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LO3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Interpret and escalate verified incidents.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Transfer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Apply the same reasoning to new scenarios.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Use the LMS as the single learner access point.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Courseware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Download slides and Learner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Activities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Open the eight activity folders.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Assessment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Access WA and Case Study papers.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Submission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Upload answers through the assigned course record.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Assessment Briefing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Demonstrate reasoning, evidence and control selection.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Written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Three open-ended questions, K1–K3.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Case Study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One scenario, three questions, A1–A3.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Resources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Open book using approved materials.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Address every criterion with evidence.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Assessment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TRAQOM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Scan the LMS QR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7063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9242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Assessment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Complete the SSG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3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MANDATORY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0916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235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WA then 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3 questions 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4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OPEN BOOK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4088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34071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55863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55863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3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Submit on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663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Upload responses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0103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7260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76579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8758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8758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Sign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Review result and 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1824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882896"/>
            <a:ext cx="103327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Candidate papers are learner-facing; answer keys remain trainer-only.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Assessment and Funding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Completion depends on attendance and demonstrated competence.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Meet the required course attendance.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Attempt all prescribed instruments.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Competence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Achieve competent evidence for every criterion.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Complete required declarations and sign-off.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Safety Boundary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07008"/>
            <a:ext cx="10881360" cy="5303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Analyse safely without interacting with real threats.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59" y="2167128"/>
            <a:ext cx="530352" cy="53035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9961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Links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9961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Never open a live suspicious URL.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965960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79" y="2167128"/>
            <a:ext cx="530352" cy="53035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79" y="2194560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1736" y="2121408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31736" y="2496312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Never submit real personal or banking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3831335"/>
            <a:ext cx="530352" cy="530352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9961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Credentials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961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Never share passwords, OTPs or recovery codes.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630168"/>
            <a:ext cx="5230368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79" y="3831335"/>
            <a:ext cx="530352" cy="530352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3858768"/>
            <a:ext cx="530352" cy="4572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31736" y="3785615"/>
            <a:ext cx="406908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0D1F36"/>
                </a:solidFill>
                <a:latin typeface="Arial"/>
              </a:rPr>
              <a:t>Devices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31736" y="4160520"/>
            <a:ext cx="4069080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Use supplied screenshots and fictional cases.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tertiarycourses.com.sg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1-independent-verification.png"/>
          <p:cNvPicPr>
            <a:picLocks noChangeAspect="1"/>
          </p:cNvPicPr>
          <p:nvPr/>
        </p:nvPicPr>
        <p:blipFill>
          <a:blip r:embed="rId2"/>
          <a:srcRect l="38109" r="8365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  <a:ln w="12700">
            <a:solidFill>
              <a:srgbClr val="D7E2EE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461772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Identify Cyber Frauds and Scams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90672"/>
            <a:ext cx="4526280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CFEAF3"/>
                </a:solidFill>
                <a:latin typeface="Arial"/>
              </a:rPr>
              <a:t>Trace how contact becomes trust, action and loss; then break the attacker-controlled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00600"/>
            <a:ext cx="2103120" cy="1234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700" b="1">
                <a:solidFill>
                  <a:srgbClr val="445B74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Annual scam and cybercrime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5010912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4873751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0k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0432" y="4146803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4009643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20k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3282696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3145536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40k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2418587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281427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60k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" y="1554479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417319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80k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95740" y="3849291"/>
            <a:ext cx="433059" cy="1161620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0584" y="3584115"/>
            <a:ext cx="643371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26.9k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92808" y="3976877"/>
            <a:ext cx="433059" cy="103403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7652" y="3711701"/>
            <a:ext cx="643371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23.9k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2021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76484" y="3556229"/>
            <a:ext cx="433059" cy="145468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1328" y="3291053"/>
            <a:ext cx="643371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33.7k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73552" y="3640091"/>
            <a:ext cx="433059" cy="137082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68396" y="3374915"/>
            <a:ext cx="643371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31.7k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78608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2022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57228" y="2834396"/>
            <a:ext cx="433059" cy="2176515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52072" y="2569220"/>
            <a:ext cx="643371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50.4k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54296" y="2999138"/>
            <a:ext cx="433059" cy="2011773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9140" y="2733962"/>
            <a:ext cx="643371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46.6k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59352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2023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37972" y="2599618"/>
            <a:ext cx="433059" cy="2411293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32816" y="2334442"/>
            <a:ext cx="643371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55.8k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2785790"/>
            <a:ext cx="433059" cy="2225121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29884" y="2520614"/>
            <a:ext cx="643371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51.5k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40096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2024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18716" y="3197408"/>
            <a:ext cx="433059" cy="1813503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3560" y="2932232"/>
            <a:ext cx="643371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42.0k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15784" y="3399004"/>
            <a:ext cx="433059" cy="1611907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0628" y="3133828"/>
            <a:ext cx="643371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37.3k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2025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" y="5623560"/>
            <a:ext cx="219456" cy="16459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52728" y="5541264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All scam and cybercrime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31920" y="5623560"/>
            <a:ext cx="219456" cy="164592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24528" y="5541264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Scam cases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58200" y="1344168"/>
            <a:ext cx="3063240" cy="452628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32520" y="16276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rial"/>
              </a:rPr>
              <a:t>READ THE SIGNAL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2057400"/>
            <a:ext cx="2487168" cy="2240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2025 improved from 2024, but 37,308 scam cases still require consistent prevention and verification.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32520" y="45994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32520" y="4882896"/>
            <a:ext cx="248716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3EDF3"/>
                </a:solidFill>
                <a:latin typeface="Arial"/>
              </a:rPr>
              <a:t>Verify the specific claim through an independent route.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Scam losses remain material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5010912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4873751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0432" y="4146803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4009643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300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3282696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3145536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600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2418587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281427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900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" y="1554479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417319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1,200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24609" y="1806799"/>
            <a:ext cx="1592884" cy="320411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9453" y="1541623"/>
            <a:ext cx="1803196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1,112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5093208"/>
            <a:ext cx="224637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2024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25849" y="2380855"/>
            <a:ext cx="1592884" cy="2630056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0693" y="2115679"/>
            <a:ext cx="1803196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913.1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99104" y="5093208"/>
            <a:ext cx="224637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2025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7089" y="3828236"/>
            <a:ext cx="1592884" cy="1182675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21933" y="3563060"/>
            <a:ext cx="1803196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410.6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0344" y="5093208"/>
            <a:ext cx="2246376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1H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5623560"/>
            <a:ext cx="219456" cy="16459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52728" y="5541264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Losses S$ million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58200" y="1344168"/>
            <a:ext cx="3063240" cy="452628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2520" y="16276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rial"/>
              </a:rPr>
              <a:t>READ THE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2057400"/>
            <a:ext cx="2487168" cy="2240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Loss reduction does not remove personal exposure. A small number of high-loss incidents can dominate outcomes.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45994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882896"/>
            <a:ext cx="248716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3EDF3"/>
                </a:solidFill>
                <a:latin typeface="Arial"/>
              </a:rPr>
              <a:t>Verify the specific claim through an independent route.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First-half scam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5010912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4873751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0k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0432" y="4146803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4009643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7k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3282696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3145536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14k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2418587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281427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21k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" y="1554479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417319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28k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95740" y="3335036"/>
            <a:ext cx="930127" cy="1675875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0584" y="3069860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13.6k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1H 2022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76484" y="2189846"/>
            <a:ext cx="930127" cy="2821065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1328" y="1924670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22.9k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1H 2023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57228" y="1731869"/>
            <a:ext cx="930127" cy="327904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2072" y="1466693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26.6k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1H 2024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7972" y="2585978"/>
            <a:ext cx="930127" cy="2424933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2816" y="2320802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19.6k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1H 2025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18716" y="2934460"/>
            <a:ext cx="930127" cy="2076451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3560" y="2669284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16.8k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1H 2026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5623560"/>
            <a:ext cx="219456" cy="16459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52728" y="5541264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Scam cases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200" y="1344168"/>
            <a:ext cx="3063240" cy="452628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16276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rial"/>
              </a:rPr>
              <a:t>READ THE SIGNAL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2057400"/>
            <a:ext cx="2487168" cy="2240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The first-half count declined again in 2026, while attackers continued shifting channels and pretexts.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5994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882896"/>
            <a:ext cx="248716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3EDF3"/>
                </a:solidFill>
                <a:latin typeface="Arial"/>
              </a:rPr>
              <a:t>Verify the specific claim through an independent route.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2025 victim average loss by 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5010912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4873751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0k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0432" y="4146803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4009643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10k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3282696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3145536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20k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2418587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281427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30k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" y="1554479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417319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40k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95740" y="4585943"/>
            <a:ext cx="930127" cy="424968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0584" y="4320767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4,918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≤19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76484" y="4223018"/>
            <a:ext cx="930127" cy="787893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1328" y="3957842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9,118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20–29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57228" y="3085420"/>
            <a:ext cx="930127" cy="1925491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2072" y="2820244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22.3k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30–49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7972" y="2160824"/>
            <a:ext cx="930127" cy="2850087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2816" y="1895648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33.0k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50–64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18716" y="1809132"/>
            <a:ext cx="930127" cy="3201779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3560" y="1543956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37.1k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65+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5623560"/>
            <a:ext cx="219456" cy="16459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52728" y="5541264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Average loss S$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200" y="1344168"/>
            <a:ext cx="3063240" cy="452628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16276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rial"/>
              </a:rPr>
              <a:t>READ THE SIGNAL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2057400"/>
            <a:ext cx="2487168" cy="2240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Average losses rise across the reported age groups. Controls must protect both frequent and high-impact targets.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5994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882896"/>
            <a:ext cx="248716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3EDF3"/>
                </a:solidFill>
                <a:latin typeface="Arial"/>
              </a:rPr>
              <a:t>Verify the specific claim through an independent route.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SINGAPORE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2025 high-volume scam 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0432" y="5010912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" y="4873751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1170432" y="4146803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4009643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2,000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70432" y="3282696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" y="3145536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4,000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" y="2418587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281427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6,000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70432" y="1554479"/>
            <a:ext cx="6903720" cy="10972"/>
          </a:xfrm>
          <a:prstGeom prst="rect">
            <a:avLst/>
          </a:prstGeom>
          <a:solidFill>
            <a:srgbClr val="D7E2EE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" y="1417319"/>
            <a:ext cx="47548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950" b="0">
                <a:solidFill>
                  <a:srgbClr val="5B6372"/>
                </a:solidFill>
                <a:latin typeface="Arial"/>
              </a:rPr>
              <a:t>8,000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95740" y="2114854"/>
            <a:ext cx="930127" cy="2896057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90584" y="1849678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6,703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E-commerce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76484" y="2304525"/>
            <a:ext cx="930127" cy="2706386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71328" y="2039349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6,264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Phishing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57228" y="2602210"/>
            <a:ext cx="930127" cy="2408701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52072" y="2337034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5,575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59352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Job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37972" y="2651033"/>
            <a:ext cx="930127" cy="2359878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32816" y="2385857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5,462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0096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Investment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18716" y="3557914"/>
            <a:ext cx="930127" cy="1452997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3560" y="3292738"/>
            <a:ext cx="1140439" cy="23774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1">
                <a:solidFill>
                  <a:srgbClr val="0D1F36"/>
                </a:solidFill>
                <a:latin typeface="Arial"/>
              </a:rPr>
              <a:t>3,363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5093208"/>
            <a:ext cx="1325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50" b="0">
                <a:solidFill>
                  <a:srgbClr val="161B26"/>
                </a:solidFill>
                <a:latin typeface="Arial"/>
              </a:rPr>
              <a:t>Govt impersonation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5623560"/>
            <a:ext cx="219456" cy="164592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52728" y="5541264"/>
            <a:ext cx="25603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161B26"/>
                </a:solidFill>
                <a:latin typeface="Arial"/>
              </a:rPr>
              <a:t>Cases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200" y="1344168"/>
            <a:ext cx="3063240" cy="452628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2520" y="16276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Arial"/>
              </a:rPr>
              <a:t>READ THE SIGNAL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2520" y="2057400"/>
            <a:ext cx="2487168" cy="2240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rial"/>
              </a:rPr>
              <a:t>Different pretexts converge on the same actions: disclose, install, authenticate, pay or forward funds.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32520" y="4599432"/>
            <a:ext cx="2487168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Decision rule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4882896"/>
            <a:ext cx="2487168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0">
                <a:solidFill>
                  <a:srgbClr val="D3EDF3"/>
                </a:solidFill>
                <a:latin typeface="Arial"/>
              </a:rPr>
              <a:t>Verify the specific claim through an independent route.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Phishing: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Spoofed email or site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sender-domain mismatch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credential or card capture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729" y="1353312"/>
            <a:ext cx="1929638" cy="32461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sender-domain mismatch; login link; authentication-code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Phishing: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Phishing: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815" y="1298448"/>
            <a:ext cx="2636266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Smishing: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Malicious SMS or chat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unknown sender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mobile-first credential capture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1935276"/>
            <a:ext cx="2788920" cy="208219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unknown sender; shortened link; delivery or refund pretext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Smishing: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Smishing: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57952"/>
            <a:ext cx="4709160" cy="35158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Vishing: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Impersonation call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caller-ID trust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coerced disclosure or transfer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caller-ID trust; authority claim; secrecy; stay-on-line pressure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Vishing: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Vishing: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Government impersonation: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False official investigation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threat of arrest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transfer to a safe account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1769627"/>
            <a:ext cx="2788920" cy="24134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threat of arrest; transfer demand; remote interview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Government impersonation: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Government impersonation: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78250"/>
            <a:ext cx="4709160" cy="40752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Bank impersonation: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False fraud alert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urgent reversal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OTP or digital-token takeover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2202882"/>
            <a:ext cx="2788920" cy="15469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urgent reversal; app install; authentication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Bank impersonation: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Bank impersonation: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09811"/>
            <a:ext cx="4709160" cy="2612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Investment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Fabricated returns platform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guaranteed return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repeated deposits and blocked withdrawal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2047272"/>
            <a:ext cx="2788920" cy="185819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guaranteed return; social proof; withdrawal fee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Investment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Investment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47060"/>
            <a:ext cx="4709160" cy="3137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Job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Fake task or recruitment offer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easy income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advance payment and escalating deposits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easy income; group chat; pay to unlock commission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Job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Job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E-commerce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Non-existent or misrepresented goods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off-platform chat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irreversible prepayment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2047272"/>
            <a:ext cx="2788920" cy="185819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off-platform chat; deposit; price anomaly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E-commerce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E-commerce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47060"/>
            <a:ext cx="4709160" cy="31376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Tech-support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False device infection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unsolicited alert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remote access and payment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unsolicited alert; remote tool; refund or clean-up fee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Tech-support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Tech-support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Business email compromise: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Compromised or spoofed mailbox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changed beneficiary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fraudulent supplier payment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changed beneficiary; urgency; process bypass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Business email compromise: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Business email compromise: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Romance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Engineered emotional trust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rapid intimacy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progressive financial extraction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rapid intimacy; crisis; avoidance of live verification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Romance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Romance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Malware-enabled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Sideloaded or disguised application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unknown-source app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session theft and device control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unknown-source app; accessibility permissions; overlay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Malware-enabled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Malware-enabled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QR phishing: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Malicious QR destination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unverifiable code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hidden redirect to fake service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1484527"/>
            <a:ext cx="2788920" cy="298368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unverifiable code; payment/login request; domain mismatch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QR phishing: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QR phishing: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276" y="1298448"/>
            <a:ext cx="4145343" cy="4434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Account takeover: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Stolen credentials or session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new device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impersonation and onward fraud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088" y="2064507"/>
            <a:ext cx="2788920" cy="18237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796528" y="4306823"/>
            <a:ext cx="2606039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Source-deck evidence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new device; recovery change; unusual messages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Account takeover: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Account takeover: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76161"/>
            <a:ext cx="4709160" cy="30794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0679"/>
            <a:ext cx="452628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Inspect the source-deck artifact at readable scale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Money-mule recruitment: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Use of personal accounts to move funds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keep commission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laundering and legal exposure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keep commission; receive and forward; secrecy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Money-mule recruitment: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Money-mule recruitment: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Lottery and prize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False reward notification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unexpected win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fee and identity extraction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unexpected win; tax or delivery fee; urgency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Lottery and prize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Lottery and prize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Loan scam: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False low-cost credit offer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guaranteed approval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advance fee and identity theft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guaranteed approval; processing fee; unofficial 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Loan scam: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Loan scam: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TECHNICAL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Deepfake impersonation: attack 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ENTRY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Synthetic voice or video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5856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60604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TRUST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unusual request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27024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61772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high-trust payment manipulation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81928" y="2057400"/>
            <a:ext cx="283464" cy="0"/>
          </a:xfrm>
          <a:prstGeom prst="line">
            <a:avLst/>
          </a:prstGeom>
          <a:ln w="27940">
            <a:solidFill>
              <a:srgbClr val="DC262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629400" y="1417320"/>
            <a:ext cx="1664208" cy="12984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48272" y="1572768"/>
            <a:ext cx="1426464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1883664"/>
            <a:ext cx="1426464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20" b="1">
                <a:solidFill>
                  <a:srgbClr val="0D1F36"/>
                </a:solidFill>
                <a:latin typeface="Arial"/>
              </a:rPr>
              <a:t>money · access · identity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05088" y="1353312"/>
            <a:ext cx="2788920" cy="324612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79408" y="1719072"/>
            <a:ext cx="2240280" cy="6583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TRUST
BOUNDARY</a:t>
            </a:r>
          </a:p>
        </p:txBody>
      </p:sp>
      <p:sp>
        <p:nvSpPr>
          <p:cNvPr id="23" name="Oval 22"/>
          <p:cNvSpPr/>
          <p:nvPr/>
        </p:nvSpPr>
        <p:spPr>
          <a:xfrm>
            <a:off x="9582912" y="2615184"/>
            <a:ext cx="1024128" cy="102412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82912" y="2670048"/>
            <a:ext cx="1024128" cy="8229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822191"/>
            <a:ext cx="214884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Stop and verify outside the sender-controlled channel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182112"/>
            <a:ext cx="7754112" cy="144475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3401568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OBSERVABLE SIGNALS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" y="3685032"/>
            <a:ext cx="7150608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unusual request; channel shift; no independent callback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74920"/>
            <a:ext cx="10469880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Break the path before disclosure, installation, authentication or payment.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Deepfake impersonation: signal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621792" cy="6217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How did it arrive?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Account, number, domain, redirect and device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627632"/>
            <a:ext cx="621792" cy="6217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  <a:latin typeface="Arial"/>
              </a:rPr>
              <a:t>PRESSURE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emotion is engineered?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Authority, urgency, scarcity, fear, reward or secrecy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417320"/>
            <a:ext cx="3364992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84464" y="1627632"/>
            <a:ext cx="621792" cy="62179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673352"/>
            <a:ext cx="621792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1664208"/>
            <a:ext cx="2121408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395728"/>
            <a:ext cx="2907792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1">
                <a:solidFill>
                  <a:srgbClr val="0D1F36"/>
                </a:solidFill>
                <a:latin typeface="Arial"/>
              </a:rPr>
              <a:t>What must you do?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8472" y="3035808"/>
            <a:ext cx="2907792" cy="10241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50" b="0">
                <a:solidFill>
                  <a:srgbClr val="161B26"/>
                </a:solidFill>
                <a:latin typeface="Arial"/>
              </a:rPr>
              <a:t>Disclose, install, authenticate, pay, forward or stay connected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" y="4983480"/>
            <a:ext cx="9829800" cy="65836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17320" y="5074920"/>
            <a:ext cx="932688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DECIDE: move to an independently obtained contact route before taking the requested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occ.gov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WORKED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Deepfake impersonation: evidence-led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4709160" cy="443484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600200"/>
            <a:ext cx="411480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 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F6FEB"/>
                </a:solidFill>
                <a:latin typeface="Arial"/>
              </a:rPr>
              <a:t>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identity cue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148840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2276856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rial"/>
              </a:rPr>
              <a:t>CHANNEL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2587752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origin and redirect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Arial"/>
              </a:rPr>
              <a:t>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data, access or payment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502152"/>
            <a:ext cx="175564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35808" y="3630168"/>
            <a:ext cx="1536192" cy="2194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rial"/>
              </a:rPr>
              <a:t>ROUTE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35808" y="3941064"/>
            <a:ext cx="1536192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trusted 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0912"/>
            <a:ext cx="3913632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Record facts before deciding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0" y="1353312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07024" y="1536192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CLAIM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1490472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Record exactly what the sender says. Identity cues remain unverified.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798064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07024" y="2980944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35224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Capture sender, domain, number, URL, payment route, requested authentication and timing.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0" y="4242816"/>
            <a:ext cx="583387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4425696"/>
            <a:ext cx="123444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DISPOSITION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4379976"/>
            <a:ext cx="4114800" cy="7680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40" b="1">
                <a:solidFill>
                  <a:srgbClr val="0D1F36"/>
                </a:solidFill>
                <a:latin typeface="Arial"/>
              </a:rPr>
              <a:t>Block and report when independent verification fails or the requested action is high risk.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6440" y="5486400"/>
            <a:ext cx="5486400" cy="3840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A polished message can still be fraudulent; the decision rests on verified evidence and action risk.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fortinet.com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2-financial-controls.png"/>
          <p:cNvPicPr>
            <a:picLocks noChangeAspect="1"/>
          </p:cNvPicPr>
          <p:nvPr/>
        </p:nvPicPr>
        <p:blipFill>
          <a:blip r:embed="rId2"/>
          <a:srcRect l="38109" r="8365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  <a:ln w="12700">
            <a:solidFill>
              <a:srgbClr val="D7E2EE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rial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461772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Assess and Protect Information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90672"/>
            <a:ext cx="4526280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CFEAF3"/>
                </a:solidFill>
                <a:latin typeface="Arial"/>
              </a:rPr>
              <a:t>Layer controls around identity, devices, accounts and payments so one mistake does not become a loss.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00600"/>
            <a:ext cx="2103120" cy="1234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700" b="1">
                <a:solidFill>
                  <a:srgbClr val="445B74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Independent verification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opic1-independent-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83215"/>
            <a:ext cx="5074920" cy="285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Move to contact data obtained outside the suspicious message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Breaks the scammer-controlled trust path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Independent verification: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Passkeys and phishing-resistant MFA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586" y="1280160"/>
            <a:ext cx="3402482" cy="4462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Bind authentication to the legitimate origin and device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Reduces credential replay and OTP interception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Passkeys and phishing-resistant MFA: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Password manager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Generate unique credentials and match saved origins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Prevents password reuse and exposes look-alike domains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Password manager: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Device patching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31663"/>
            <a:ext cx="5074920" cy="27592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Apply supported operating-system and browser fixes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Removes known exploit paths used by malicious sites and apps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Device patching: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  <p:transition spd="fast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Unknown-source restriction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74487"/>
            <a:ext cx="5074920" cy="42736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Block sideloading and risky accessibility permissions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Interrupts malware-enabled scam installation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  <p:transition spd="fast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Unknown-source restriction: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  <p:transition spd="fast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Session review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841" y="1280160"/>
            <a:ext cx="4201972" cy="4462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Inspect devices, sessions, forwarding and recovery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Detects persistence after credential compromise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  <p:transition spd="fast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Session review: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  <p:transition spd="fast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Transaction alerts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80621"/>
            <a:ext cx="5074920" cy="286134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Notify immediately on transfers, payees and card activity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Shortens detection and bank-contact 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  <p:transition spd="fast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Transaction alerts: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  <p:transition spd="fast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Transfer limits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730" y="1280160"/>
            <a:ext cx="2076196" cy="4462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Cap routine exposure and require deliberate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Reduces maximum loss from one compromised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  <p:transition spd="fast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Transfer limits: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  <p:transition spd="fast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Money Lock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Separate protected funds from digitally transferable balances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Limits funds reachable through online compromise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  <p:transition spd="fast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Money Lock: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  <p:transition spd="fast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Maker-checker approval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Separate request, verification and payment release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Stops a single compromised mailbox from authorising payment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  <p:transition spd="fast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Maker-checker approval: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  <p:transition spd="fast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Beneficiary callback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Verify account changes through a known channel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Targets business email compromise and invoice diversion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  <p:transition spd="fast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Beneficiary callback: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  <p:transition spd="fast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ScamShield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196971"/>
            <a:ext cx="5074920" cy="26286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8" y="5449823"/>
            <a:ext cx="48920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Control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Check and report suspicious numbers, messages and links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Adds community and SPF-informed detection signals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  <p:transition spd="fast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ScamShield: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  <p:transition spd="fast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Privacy minimisation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Limit public identity, role and relationship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Reduces material available for tailored pretexts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  <p:transition spd="fast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Privacy minimisation: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  <p:transition spd="fast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Offline backup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Keep tested, disconnected recovery copies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Reduces ransomware leverage and preserves business continuity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  <p:transition spd="fast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Offline backup: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  <p:transition spd="fast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PROTECTIVE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Incident rehearsal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CONFIG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80160"/>
            <a:ext cx="5074920" cy="446227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27632"/>
            <a:ext cx="4389120" cy="3291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LAYERED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78992" y="2176272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2267712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REQUEST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2" y="2240279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treat as unverified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2926079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1872" y="3017520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9152" y="2990087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use a trusted route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8992" y="3675887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3767327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AUTHORISE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2" y="3739896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apply the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8992" y="4425696"/>
            <a:ext cx="4224528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4517136"/>
            <a:ext cx="1143000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F59E0B"/>
                </a:solidFill>
                <a:latin typeface="Arial"/>
              </a:rPr>
              <a:t>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59152" y="4489704"/>
            <a:ext cx="267004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50" b="1">
                <a:solidFill>
                  <a:srgbClr val="0D1F36"/>
                </a:solidFill>
                <a:latin typeface="Arial"/>
              </a:rPr>
              <a:t>retain safe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353312"/>
            <a:ext cx="18288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CONTROL INTENT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719072"/>
            <a:ext cx="5166360" cy="10789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0D1F36"/>
                </a:solidFill>
                <a:latin typeface="Arial"/>
              </a:rPr>
              <a:t>Practice evidence, bank, police and internal escalation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2971800"/>
            <a:ext cx="523036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2" y="3154680"/>
            <a:ext cx="237744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ATTACK PATH INTERRUPTED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2" y="342900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Reduces delay and omissions under pressure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53328" y="4297680"/>
            <a:ext cx="523036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91072" y="4480560"/>
            <a:ext cx="18288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PROOF TO RETAIN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4754880"/>
            <a:ext cx="4572000" cy="43891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Enabled state · owner · timestamp · residual risk — with secrets redacted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bitdefender.com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  <p:transition spd="fast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VERIFICATION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Incident rehearsal: control test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9032" y="1298448"/>
            <a:ext cx="713232" cy="71323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99032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TRIGGER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Urgent request, unusual login or changed payment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71800" y="3163824"/>
            <a:ext cx="384048" cy="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38144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0248" y="1298448"/>
            <a:ext cx="713232" cy="7132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0248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Challenge, block, limit or independently verify the 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43016" y="3163824"/>
            <a:ext cx="384048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09360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41464" y="1298448"/>
            <a:ext cx="713232" cy="7132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41464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7C3AED"/>
                </a:solidFill>
                <a:latin typeface="Arial"/>
              </a:rP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Observable result, owner, timestamp and remaining exposure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14232" y="3163824"/>
            <a:ext cx="384048" cy="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0576" y="1572768"/>
            <a:ext cx="2395728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12680" y="1298448"/>
            <a:ext cx="713232" cy="7132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1353312"/>
            <a:ext cx="713232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00032" y="2331720"/>
            <a:ext cx="1956816" cy="31089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Arial"/>
              </a:rPr>
              <a:t>RECOVERY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2816352"/>
            <a:ext cx="1938528" cy="12070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0D1F36"/>
                </a:solidFill>
                <a:latin typeface="Arial"/>
              </a:rPr>
              <a:t>Escalate if absent, bypassed, misconfigured or ambiguous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175504"/>
            <a:ext cx="10332720" cy="51206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PASS only when the expected control response is visible and the evidence is safe to retain.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  <p:transition spd="fast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1: Scam Signal Triage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Classify a suspicious contact using channel, claim, pressure, requested action and payment route.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Completed signal matrix with risk score and decision rationale.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Every decision cites at least two observable indicators; no decision relies only on spelling or grammar.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activities/activity-01-scam-signal-triage/ACTIVITY-GUIDE.md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activities/activity-01-scam-signal-triage/ACTIVITY-GUIDE.md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  <p:transition spd="fast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2: Phishing URL and Header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Inspect a simulated phishing message without opening its link or attachment.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Annotated header and URL decomposition with disposition.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The registrable domain and authentication result are stated correctly and no live suspect link is opened.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activities/activity-02-phishing-url-header-analysis/ACTIVITY-GUIDE.md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activities/activity-02-phishing-url-header-analysis/ACTIVITY-GUIDE.md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  <p:transition spd="fast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3: Independent Verification Drill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Break the scammer-controlled channel and verify a claim through trusted contact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Verification log and trust-boundary explanation.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No sender-provided telephone number, link or QR code is used for verification.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activities/activity-03-independent-verification/ACTIVITY-GUIDE.md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activities/activity-03-independent-verification/ACTIVITY-GUIDE.md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  <p:transition spd="fast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4: Account and Device Hardening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Apply layered safeguards that reduce credential, session and malware-enabled fraud.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Hardening checklist with redacted screenshots and residual risks.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Credentials and recovery codes are absent; each control names the attack path it interrupts.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activities/activity-04-account-device-hardening/ACTIVITY-GUIDE.md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activities/activity-04-account-device-hardening/ACTIVITY-GUIDE.md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  <p:transition spd="fast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5: ScamShield Check and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Use ScamShield resources to check and report a simulated suspicious message safely.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ScamShield check record, redacted report example and limitations note.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Only simulated data is submitted; the learner distinguishes a tool result from proof of legitimacy.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activities/activity-05-scamshield-check-report/ACTIVITY-GUIDE.md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activities/activity-05-scamshield-check-report/ACTIVITY-GUIDE.md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  <p:transition spd="fast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6: Financial Control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Design preventive and detective controls for a personal or small-business payment workflow.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Payment control map, approval matrix and scenario test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The design separates request, verification and approval, and names at least one preventive and one detective control.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activities/activity-06-financial-control-plan/ACTIVITY-GUIDE.md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activities/activity-06-financial-control-plan/ACTIVITY-GUIDE.md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  <p:transition spd="fast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3-incident-response-clean.png"/>
          <p:cNvPicPr>
            <a:picLocks noChangeAspect="1"/>
          </p:cNvPicPr>
          <p:nvPr/>
        </p:nvPicPr>
        <p:blipFill>
          <a:blip r:embed="rId2"/>
          <a:srcRect l="38109" r="8365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  <a:ln w="12700">
            <a:solidFill>
              <a:srgbClr val="D7E2EE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rial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461772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Respond to Cyber Security Threats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90672"/>
            <a:ext cx="4526280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CFEAF3"/>
                </a:solidFill>
                <a:latin typeface="Arial"/>
              </a:rPr>
              <a:t>Contain loss, preserve the timeline and route verified facts to the parties able to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00600"/>
            <a:ext cx="2103120" cy="1234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700" b="1">
                <a:solidFill>
                  <a:srgbClr val="445B74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  <p:transition spd="fast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Stop interaction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End calls and messages; do not follow new instructions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prevents further coercion and data disclosure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  <p:transition spd="fast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Stop interaction: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  <p:transition spd="fast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Protect money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754922"/>
            <a:ext cx="4005072" cy="15676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19" y="5486400"/>
            <a:ext cx="3822191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Operational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Contact the bank through an official channel and request urgent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maximises the chance of stopping or tracing transfers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  <p:transition spd="fast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Protect money: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  <p:transition spd="fast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Isolate compromise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Disconnect a suspected infected device while preserving state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limits attacker access without erasing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  <p:transition spd="fast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Isolate compromise: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  <p:transition spd="fast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Preserve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Save originals, screenshots, headers, numbers, URLs and transaction references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supports bank, platform and police action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  <p:transition spd="fast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Preserve evidence: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  <p:transition spd="fast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Secure accounts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Change exposed credentials from a trusted device and revoke sessions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closes reused credentials and stolen sessions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  <p:transition spd="fast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Secure accounts: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  <p:transition spd="fast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Assess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Identify people, accounts, devices, data and payments affected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sets severity and notification priorities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  <p:transition spd="fast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Assess scope: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  <p:transition spd="fast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Report platform abuse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204480"/>
            <a:ext cx="4005072" cy="26684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19" y="5486400"/>
            <a:ext cx="3822191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Operational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Use the platform reporting path for the account, advert, message or listing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enables removal and ecosystem disruption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  <p:transition spd="fast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Report platform abuse: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  <p:transition spd="fast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Use ScamShield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1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501476"/>
            <a:ext cx="4005072" cy="20745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19" y="5486400"/>
            <a:ext cx="3822191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Operational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Check or report suspicious contact through official ScamShield resources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contributes signals and receives current advice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  <p:transition spd="fast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Use ScamShield: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  <p:transition spd="fast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Make a Police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Provide a factual chronology and supporting evidence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creates an official record and supports investigation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  <p:transition spd="fast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Make a Police report: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  <p:transition spd="fast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Notify the workplace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Engage security, finance, legal and data-protection roles as applicable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coordinates containment and statutory decisions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  <p:transition spd="fast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Notify the workplace: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  <p:transition spd="fast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Track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Maintain actions, owners, reference numbers and outcomes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prevents gaps and supports handoffs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  <p:transition spd="fast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Track recovery: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  <p:transition spd="fast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Arial"/>
              </a:rPr>
              <a:t>INCIDENT RESPONSE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Review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DC262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298448"/>
            <a:ext cx="4005072" cy="4480560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82127" y="1673352"/>
            <a:ext cx="324612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06B6D4"/>
                </a:solidFill>
                <a:latin typeface="Arial"/>
              </a:rPr>
              <a:t>RESPONSE
CHECKPOINT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2697480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65008" y="2788920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05088" y="2761488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contain the active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3502152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3593592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566160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preserve and secure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306824"/>
            <a:ext cx="315468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5008" y="4398264"/>
            <a:ext cx="658368" cy="2011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THEN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4370832"/>
            <a:ext cx="2121408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D1F36"/>
                </a:solidFill>
                <a:latin typeface="Arial"/>
              </a:rPr>
              <a:t>report and track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17320"/>
            <a:ext cx="14173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Arial"/>
              </a:rPr>
              <a:t>01 · 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1810512"/>
            <a:ext cx="6309360" cy="10972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Convert the incident into owned corrective actions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08960"/>
            <a:ext cx="6327648" cy="1078992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3273552"/>
            <a:ext cx="164592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WHY THIS ORDER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3566160"/>
            <a:ext cx="5760720" cy="4114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reduces recurrence and tests whether controls 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434840"/>
            <a:ext cx="6327648" cy="1078992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9432"/>
            <a:ext cx="11430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6B6D4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882896"/>
            <a:ext cx="5760720" cy="3931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Time · owner · reference number · source item · observable outcome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scamshield.gov.sg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  <p:transition spd="fast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Arial"/>
              </a:rPr>
              <a:t>DECISION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Review controls: escalation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7C3AED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61872"/>
            <a:ext cx="210312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SEVERITY MATRIX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73352"/>
            <a:ext cx="2148840" cy="1325880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MONITOR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Low impact
Known scope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54096" y="1673352"/>
            <a:ext cx="2148840" cy="1325880"/>
          </a:xfrm>
          <a:prstGeom prst="roundRect">
            <a:avLst/>
          </a:prstGeom>
          <a:solidFill>
            <a:srgbClr val="F0F7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828800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F6FEB"/>
                </a:solidFill>
                <a:latin typeface="Arial"/>
              </a:rPr>
              <a:t>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194560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High uncertainty
No confirmed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00984"/>
            <a:ext cx="214884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Arial"/>
              </a:rPr>
              <a:t>CONTAIN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Confirmed compromise
Limited impact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54096" y="3300984"/>
            <a:ext cx="2148840" cy="13258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18688" y="3456432"/>
            <a:ext cx="1810512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Arial"/>
              </a:rPr>
              <a:t>ESCALATE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18688" y="3822192"/>
            <a:ext cx="1810512" cy="6126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D1F36"/>
                </a:solidFill>
                <a:latin typeface="Arial"/>
              </a:rPr>
              <a:t>Financial loss, data exposure
or multiple victims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261872"/>
            <a:ext cx="2743200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ROUTE VERIFIED FACTS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15000" y="16642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17739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BANK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17465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protect funds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359152"/>
            <a:ext cx="0" cy="182880"/>
          </a:xfrm>
          <a:prstGeom prst="line">
            <a:avLst/>
          </a:prstGeom>
          <a:ln w="27940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715000" y="25786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0" y="26883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609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remove abuse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412480" y="3273552"/>
            <a:ext cx="0" cy="18288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34930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36027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SCAMSHIELD / POLICE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35753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report evidence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412480" y="4187952"/>
            <a:ext cx="0" cy="182880"/>
          </a:xfrm>
          <a:prstGeom prst="line">
            <a:avLst/>
          </a:prstGeom>
          <a:ln w="27940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715000" y="4407408"/>
            <a:ext cx="544068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4517136"/>
            <a:ext cx="2057400" cy="22860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rial"/>
              </a:rPr>
              <a:t>INTERNAL TEAMS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36992" y="4489704"/>
            <a:ext cx="2834640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D1F36"/>
                </a:solidFill>
                <a:latin typeface="Arial"/>
              </a:rPr>
              <a:t>coordinate response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5230368"/>
            <a:ext cx="10195560" cy="47548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88720" y="5285232"/>
            <a:ext cx="9738360" cy="34747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Handoff test: chronology + evidence IDs + confirmed facts + impact + clear request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police.gov.sg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  <p:transition spd="fast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7: Incident Evidence Pack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Preserve useful evidence and start containment without destroying the incident timeline.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Incident timeline, evidence register and initial containment record.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The chronology is complete, evidence remains unaltered, and containment actions are distinguished from eradication.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activities/activity-07-incident-evidence-pack/ACTIVITY-GUIDE.md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activities/activity-07-incident-evidence-pack/ACTIVITY-GUIDE.md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  <p:transition spd="fast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HANDS-ON BRIDGE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Activity 8: Escalation Tabletop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939528" y="164592"/>
            <a:ext cx="107899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85248" y="187452"/>
            <a:ext cx="98755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234440"/>
            <a:ext cx="1828800" cy="11887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200" b="1">
                <a:solidFill>
                  <a:srgbClr val="D8E2EB"/>
                </a:solidFill>
                <a:latin typeface="Arial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12848" y="1298448"/>
            <a:ext cx="8915400" cy="98755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000" b="1">
                <a:solidFill>
                  <a:srgbClr val="0D1F36"/>
                </a:solidFill>
                <a:latin typeface="Arial"/>
              </a:rPr>
              <a:t>Route a scam incident to the right internal and external parties using severity and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Use the supplied fictional case and worksheet.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YOU WILL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Escalation matrix, incident brief, notification sequence and after-action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274320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2944368"/>
            <a:ext cx="2962656" cy="29260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ACCEPTANCE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7616" y="3401568"/>
            <a:ext cx="2962656" cy="9326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70" b="1">
                <a:solidFill>
                  <a:srgbClr val="0D1F36"/>
                </a:solidFill>
                <a:latin typeface="Arial"/>
              </a:rPr>
              <a:t>The brief separates facts from assumptions and includes timestamps, evidence references, impact and a clear request.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5074920"/>
            <a:ext cx="10149840" cy="566928"/>
          </a:xfrm>
          <a:prstGeom prst="round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5166360"/>
            <a:ext cx="9646920" cy="36576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Detailed procedure: Learner Guide and activities/activity-08-escalation-tabletop/ACTIVITY-GUIDE.md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activities/activity-08-escalation-tabletop/ACTIVITY-GUIDE.md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  <p:transition spd="fast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cam-defense-singapore.png"/>
          <p:cNvPicPr>
            <a:picLocks noChangeAspect="1"/>
          </p:cNvPicPr>
          <p:nvPr/>
        </p:nvPicPr>
        <p:blipFill>
          <a:blip r:embed="rId2"/>
          <a:srcRect l="38109" r="8365"/>
          <a:stretch>
            <a:fillRect/>
          </a:stretch>
        </p:blipFill>
        <p:spPr>
          <a:xfrm>
            <a:off x="5669280" y="0"/>
            <a:ext cx="6522415" cy="6858000"/>
          </a:xfrm>
          <a:prstGeom prst="rect">
            <a:avLst/>
          </a:prstGeom>
          <a:ln w="12700">
            <a:solidFill>
              <a:srgbClr val="D7E2EE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194560" cy="3200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461772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rial"/>
              </a:rPr>
              <a:t>Assessment and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90672"/>
            <a:ext cx="4526280" cy="111556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CFEAF3"/>
                </a:solidFill>
                <a:latin typeface="Arial"/>
              </a:rPr>
              <a:t>Apply the same evidence models, controls and escalation logic used across the eight activities.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800600"/>
            <a:ext cx="2103120" cy="12344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6700" b="1">
                <a:solidFill>
                  <a:srgbClr val="445B74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  <p:transition spd="fast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Written Assessment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10085832" cy="39502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874519"/>
            <a:ext cx="1097280" cy="10972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29384"/>
            <a:ext cx="109728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74519"/>
            <a:ext cx="740664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D1F36"/>
                </a:solidFill>
                <a:latin typeface="Arial"/>
              </a:rPr>
              <a:t>Three open-ended questions mapped to K1–K3.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794760"/>
            <a:ext cx="722376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Use verified channels · protect credentials and funds · preserve evidence · escalate with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  <p:transition spd="fast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Case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10085832" cy="39502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874519"/>
            <a:ext cx="1097280" cy="10972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29384"/>
            <a:ext cx="109728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74519"/>
            <a:ext cx="740664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D1F36"/>
                </a:solidFill>
                <a:latin typeface="Arial"/>
              </a:rPr>
              <a:t>One coherent scenario with three questions mapped to A1–A3.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794760"/>
            <a:ext cx="722376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Use verified channels · protect credentials and funds · preserve evidence · escalate with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  <p:transition spd="fast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0B981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Assessment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08108" y="164592"/>
            <a:ext cx="1010412" cy="329184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3828" y="187452"/>
            <a:ext cx="918971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PROCESS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070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3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TRAQOM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3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Scan the LMS QR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ATTENDANCE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7744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7063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39242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9242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35224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Assessment attendance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Complete the SSG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26663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MANDATORY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0916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0235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2414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2414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6944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WA then 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3 questions each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384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OPEN BOOK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4088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34071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55863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55863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98663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Submit on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98663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Upload responses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0103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EVIDENCE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72600" y="2999232"/>
            <a:ext cx="329184" cy="0"/>
          </a:xfrm>
          <a:prstGeom prst="line">
            <a:avLst/>
          </a:prstGeom>
          <a:ln w="27940">
            <a:solidFill>
              <a:srgbClr val="10B98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765792" y="1874519"/>
            <a:ext cx="1938528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387584" y="1536192"/>
            <a:ext cx="676656" cy="6766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87584" y="1581912"/>
            <a:ext cx="676656" cy="54864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0384" y="2359152"/>
            <a:ext cx="1609344" cy="47548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D1F36"/>
                </a:solidFill>
                <a:latin typeface="Arial"/>
              </a:rPr>
              <a:t>Sign summary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0384" y="2944368"/>
            <a:ext cx="1609344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150" b="0">
                <a:solidFill>
                  <a:srgbClr val="161B26"/>
                </a:solidFill>
                <a:latin typeface="Arial"/>
              </a:rPr>
              <a:t>Review result and feedback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1824" y="3703320"/>
            <a:ext cx="1426464" cy="274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10B981"/>
                </a:solidFill>
                <a:latin typeface="Arial"/>
              </a:rPr>
              <a:t>RECORD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882896"/>
            <a:ext cx="1033272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0D1F36"/>
                </a:solidFill>
                <a:latin typeface="Arial"/>
              </a:rPr>
              <a:t>Candidate papers are learner-facing; answer keys remain trainer-only.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  <p:transition spd="fast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10085832" cy="39502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874519"/>
            <a:ext cx="1097280" cy="10972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29384"/>
            <a:ext cx="109728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74519"/>
            <a:ext cx="740664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D1F36"/>
                </a:solidFill>
                <a:latin typeface="Arial"/>
              </a:rPr>
              <a:t>Complete the assessment attendance using the trainer-provided SSG QR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794760"/>
            <a:ext cx="722376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Use verified channels · protect credentials and funds · preserve evidence · escalate with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142</a:t>
            </a:r>
          </a:p>
        </p:txBody>
      </p:sp>
    </p:spTree>
  </p:cSld>
  <p:clrMapOvr>
    <a:masterClrMapping/>
  </p:clrMapOvr>
  <p:transition spd="fast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TRAQOM and Course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10085832" cy="39502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874519"/>
            <a:ext cx="1097280" cy="10972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29384"/>
            <a:ext cx="109728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74519"/>
            <a:ext cx="740664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D1F36"/>
                </a:solidFill>
                <a:latin typeface="Arial"/>
              </a:rPr>
              <a:t>Complete the course feedback and required TRAQOM survey through the LMS.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794760"/>
            <a:ext cx="722376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Use verified channels · protect credentials and funds · preserve evidence · escalate with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143</a:t>
            </a:r>
          </a:p>
        </p:txBody>
      </p:sp>
    </p:spTree>
  </p:cSld>
  <p:clrMapOvr>
    <a:masterClrMapping/>
  </p:clrMapOvr>
  <p:transition spd="fast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192024"/>
            <a:ext cx="704088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02920"/>
            <a:ext cx="10744200" cy="56692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700" b="1">
                <a:solidFill>
                  <a:srgbClr val="0D1F36"/>
                </a:solidFill>
                <a:latin typeface="Arial"/>
              </a:rPr>
              <a:t>Thank You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12680" y="164592"/>
            <a:ext cx="1005840" cy="329184"/>
          </a:xfrm>
          <a:prstGeom prst="roundRect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87452"/>
            <a:ext cx="914400" cy="2560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ADMIN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508760"/>
            <a:ext cx="10085832" cy="3950208"/>
          </a:xfrm>
          <a:prstGeom prst="roundRect">
            <a:avLst/>
          </a:prstGeom>
          <a:solidFill>
            <a:srgbClr val="F5F8FC"/>
          </a:solidFill>
          <a:ln w="12700">
            <a:solidFill>
              <a:srgbClr val="D7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1874519"/>
            <a:ext cx="1097280" cy="109728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08760" y="1929384"/>
            <a:ext cx="1097280" cy="841248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874519"/>
            <a:ext cx="7406640" cy="14173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2400" b="1">
                <a:solidFill>
                  <a:srgbClr val="0D1F36"/>
                </a:solidFill>
                <a:latin typeface="Arial"/>
              </a:rPr>
              <a:t>Stay calm, break the attacker-controlled channel, verify independently and preserve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3794760"/>
            <a:ext cx="7223760" cy="786384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5B6372"/>
                </a:solidFill>
                <a:latin typeface="Arial"/>
              </a:rPr>
              <a:t>Use verified channels · protect credentials and funds · preserve evidence · escalate with facts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510528"/>
            <a:ext cx="39319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750" b="0">
                <a:solidFill>
                  <a:srgbClr val="5B6372"/>
                </a:solidFill>
                <a:latin typeface="Arial"/>
              </a:rPr>
              <a:t>Navigating Digital Threats · TGS-2024043420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6510528"/>
            <a:ext cx="38862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ctr"/>
            <a:r>
              <a:rPr sz="75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6510528"/>
            <a:ext cx="342900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20" b="0">
                <a:solidFill>
                  <a:srgbClr val="5B6372"/>
                </a:solidFill>
                <a:latin typeface="Arial"/>
              </a:rPr>
              <a:t>Source: lms-tms.tertiaryinfotech.com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510528"/>
            <a:ext cx="274320" cy="16459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r"/>
            <a:r>
              <a:rPr sz="750" b="1">
                <a:solidFill>
                  <a:srgbClr val="5B6372"/>
                </a:solidFill>
                <a:latin typeface="Arial"/>
              </a:rPr>
              <a:t>144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