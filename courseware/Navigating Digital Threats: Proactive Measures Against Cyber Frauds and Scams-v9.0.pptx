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 scam and cybercrime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26886</c:v>
                </c:pt>
                <c:pt idx="1">
                  <c:v>33669</c:v>
                </c:pt>
                <c:pt idx="2">
                  <c:v>50376</c:v>
                </c:pt>
                <c:pt idx="3">
                  <c:v>55810</c:v>
                </c:pt>
                <c:pt idx="4">
                  <c:v>41974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Scam cases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23933</c:v>
                </c:pt>
                <c:pt idx="1">
                  <c:v>31728</c:v>
                </c:pt>
                <c:pt idx="2">
                  <c:v>46563</c:v>
                </c:pt>
                <c:pt idx="3">
                  <c:v>51501</c:v>
                </c:pt>
                <c:pt idx="4">
                  <c:v>37308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Losses S$ million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1H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1112.4</c:v>
                </c:pt>
                <c:pt idx="1">
                  <c:v>913.1</c:v>
                </c:pt>
                <c:pt idx="2">
                  <c:v>410.6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Scam cases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1H 2022</c:v>
                </c:pt>
                <c:pt idx="1">
                  <c:v>1H 2023</c:v>
                </c:pt>
                <c:pt idx="2">
                  <c:v>1H 2024</c:v>
                </c:pt>
                <c:pt idx="3">
                  <c:v>1H 2025</c:v>
                </c:pt>
                <c:pt idx="4">
                  <c:v>1H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13576</c:v>
                </c:pt>
                <c:pt idx="1">
                  <c:v>22853</c:v>
                </c:pt>
                <c:pt idx="2">
                  <c:v>26563</c:v>
                </c:pt>
                <c:pt idx="3">
                  <c:v>19644</c:v>
                </c:pt>
                <c:pt idx="4">
                  <c:v>16821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loss S$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≤19</c:v>
                </c:pt>
                <c:pt idx="1">
                  <c:v>20–29</c:v>
                </c:pt>
                <c:pt idx="2">
                  <c:v>30–49</c:v>
                </c:pt>
                <c:pt idx="3">
                  <c:v>50–64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4918</c:v>
                </c:pt>
                <c:pt idx="1">
                  <c:v>9118</c:v>
                </c:pt>
                <c:pt idx="2">
                  <c:v>22283</c:v>
                </c:pt>
                <c:pt idx="3">
                  <c:v>32983</c:v>
                </c:pt>
                <c:pt idx="4">
                  <c:v>37053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E-commerce</c:v>
                </c:pt>
                <c:pt idx="1">
                  <c:v>Phishing</c:v>
                </c:pt>
                <c:pt idx="2">
                  <c:v>Job</c:v>
                </c:pt>
                <c:pt idx="3">
                  <c:v>Investment</c:v>
                </c:pt>
                <c:pt idx="4">
                  <c:v>Govt impersonation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6703</c:v>
                </c:pt>
                <c:pt idx="1">
                  <c:v>6264</c:v>
                </c:pt>
                <c:pt idx="2">
                  <c:v>5575</c:v>
                </c:pt>
                <c:pt idx="3">
                  <c:v>5462</c:v>
                </c:pt>
                <c:pt idx="4">
                  <c:v>3363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image" Target="../media/image6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image" Target="../media/image6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image" Target="../media/image7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image" Target="../media/image7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image" Target="../media/image7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image" Target="../media/image83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image" Target="../media/image85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Relationship Id="rId3" Type="http://schemas.openxmlformats.org/officeDocument/2006/relationships/image" Target="../media/image87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Relationship Id="rId3" Type="http://schemas.openxmlformats.org/officeDocument/2006/relationships/image" Target="../media/image89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Relationship Id="rId3" Type="http://schemas.openxmlformats.org/officeDocument/2006/relationships/image" Target="../media/image9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Relationship Id="rId3" Type="http://schemas.openxmlformats.org/officeDocument/2006/relationships/image" Target="../media/image93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Relationship Id="rId3" Type="http://schemas.openxmlformats.org/officeDocument/2006/relationships/image" Target="../media/image9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Relationship Id="rId3" Type="http://schemas.openxmlformats.org/officeDocument/2006/relationships/image" Target="../media/image9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Relationship Id="rId3" Type="http://schemas.openxmlformats.org/officeDocument/2006/relationships/image" Target="../media/image9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Relationship Id="rId3" Type="http://schemas.openxmlformats.org/officeDocument/2006/relationships/image" Target="../media/image10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Relationship Id="rId3" Type="http://schemas.openxmlformats.org/officeDocument/2006/relationships/image" Target="../media/image103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Relationship Id="rId3" Type="http://schemas.openxmlformats.org/officeDocument/2006/relationships/image" Target="../media/image105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Relationship Id="rId3" Type="http://schemas.openxmlformats.org/officeDocument/2006/relationships/image" Target="../media/image107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Relationship Id="rId3" Type="http://schemas.openxmlformats.org/officeDocument/2006/relationships/image" Target="../media/image109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Relationship Id="rId3" Type="http://schemas.openxmlformats.org/officeDocument/2006/relationships/image" Target="../media/image11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Relationship Id="rId3" Type="http://schemas.openxmlformats.org/officeDocument/2006/relationships/image" Target="../media/image113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Relationship Id="rId3" Type="http://schemas.openxmlformats.org/officeDocument/2006/relationships/image" Target="../media/image11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Relationship Id="rId3" Type="http://schemas.openxmlformats.org/officeDocument/2006/relationships/image" Target="../media/image11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Relationship Id="rId3" Type="http://schemas.openxmlformats.org/officeDocument/2006/relationships/image" Target="../media/image11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Relationship Id="rId3" Type="http://schemas.openxmlformats.org/officeDocument/2006/relationships/image" Target="../media/image12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Relationship Id="rId3" Type="http://schemas.openxmlformats.org/officeDocument/2006/relationships/image" Target="../media/image123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Relationship Id="rId3" Type="http://schemas.openxmlformats.org/officeDocument/2006/relationships/image" Target="../media/image125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Relationship Id="rId3" Type="http://schemas.openxmlformats.org/officeDocument/2006/relationships/image" Target="../media/image127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Relationship Id="rId3" Type="http://schemas.openxmlformats.org/officeDocument/2006/relationships/image" Target="../media/image129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Relationship Id="rId3" Type="http://schemas.openxmlformats.org/officeDocument/2006/relationships/image" Target="../media/image13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Relationship Id="rId3" Type="http://schemas.openxmlformats.org/officeDocument/2006/relationships/image" Target="../media/image133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Relationship Id="rId3" Type="http://schemas.openxmlformats.org/officeDocument/2006/relationships/image" Target="../media/image135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Relationship Id="rId3" Type="http://schemas.openxmlformats.org/officeDocument/2006/relationships/image" Target="../media/image13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Relationship Id="rId3" Type="http://schemas.openxmlformats.org/officeDocument/2006/relationships/image" Target="../media/image13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Relationship Id="rId3" Type="http://schemas.openxmlformats.org/officeDocument/2006/relationships/image" Target="../media/image14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Relationship Id="rId3" Type="http://schemas.openxmlformats.org/officeDocument/2006/relationships/image" Target="../media/image143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Relationship Id="rId3" Type="http://schemas.openxmlformats.org/officeDocument/2006/relationships/image" Target="../media/image145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Relationship Id="rId3" Type="http://schemas.openxmlformats.org/officeDocument/2006/relationships/image" Target="../media/image147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Relationship Id="rId3" Type="http://schemas.openxmlformats.org/officeDocument/2006/relationships/image" Target="../media/image149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Relationship Id="rId3" Type="http://schemas.openxmlformats.org/officeDocument/2006/relationships/image" Target="../media/image15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Relationship Id="rId3" Type="http://schemas.openxmlformats.org/officeDocument/2006/relationships/image" Target="../media/image15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Relationship Id="rId3" Type="http://schemas.openxmlformats.org/officeDocument/2006/relationships/image" Target="../media/image155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Relationship Id="rId3" Type="http://schemas.openxmlformats.org/officeDocument/2006/relationships/image" Target="../media/image157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Relationship Id="rId3" Type="http://schemas.openxmlformats.org/officeDocument/2006/relationships/image" Target="../media/image15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Relationship Id="rId3" Type="http://schemas.openxmlformats.org/officeDocument/2006/relationships/image" Target="../media/image16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Relationship Id="rId3" Type="http://schemas.openxmlformats.org/officeDocument/2006/relationships/image" Target="../media/image163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Relationship Id="rId3" Type="http://schemas.openxmlformats.org/officeDocument/2006/relationships/image" Target="../media/image165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Relationship Id="rId3" Type="http://schemas.openxmlformats.org/officeDocument/2006/relationships/image" Target="../media/image16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am-defense-singap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A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4709160" cy="21488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Navigating Digital Threats: Proactive Measures Against Cyber Frauds and Scams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438912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BEEBF2"/>
                </a:solidFill>
                <a:latin typeface="Aptos"/>
              </a:rPr>
              <a:t>TGS-2024043420 | ACC-ICT-3002-1.1 Cyber Security
Version v9.0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Digital Attendance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Scan the SSG attendance QR code shown by the trainer for the AM, PM and assessment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Scan the SSG attendance QR code shown by the trainer for the AM, PM and assessment sessions.</a:t>
            </a:r>
          </a:p>
        </p:txBody>
      </p:sp>
      <p:pic>
        <p:nvPicPr>
          <p:cNvPr id="15" name="Picture 14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Scan the SSG attendance QR code shown by the trainer for the AM, PM and assessment sessions.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General Trainer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Insert the assigned trainer biography, credentials and contact protocol before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Insert the assigned trainer biography, credentials and contact protocol before delivery.</a:t>
            </a:r>
          </a:p>
        </p:txBody>
      </p:sp>
      <p:pic>
        <p:nvPicPr>
          <p:cNvPr id="15" name="Picture 14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Insert the assigned trainer biography, credentials and contact protocol before delivery.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About Dr Alfred 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Courseware lead and trainer profile: AI, cloud, cybersecurity and adult learning practitioner.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Courseware lead and trainer profile: AI, cloud, cybersecurity and adult learning practitioner.</a:t>
            </a:r>
          </a:p>
        </p:txBody>
      </p:sp>
      <p:pic>
        <p:nvPicPr>
          <p:cNvPr id="15" name="Picture 14" descr="imag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Courseware lead and trainer profile: AI, cloud, cybersecurity and adult learning practitioner.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Ground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Participate, protect confidential data, use simulated evidence only, and challenge claims with observable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Participate, protect confidential data, use simulated evidence only, and challenge claims with observable facts.</a:t>
            </a:r>
          </a:p>
        </p:txBody>
      </p:sp>
      <p:pic>
        <p:nvPicPr>
          <p:cNvPr id="15" name="Picture 14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Participate, protect confidential data, use simulated evidence only, and challenge claims with observable facts.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Course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One day, eight instructional hours, followed by a one-hour Written Assessment and Case Study.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One day, eight instructional hours, followed by a one-hour Written Assessment and Case Study.</a:t>
            </a:r>
          </a:p>
        </p:txBody>
      </p:sp>
      <p:pic>
        <p:nvPicPr>
          <p:cNvPr id="15" name="Picture 14" descr="imag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One day, eight instructional hours, followed by a one-hour Written Assessment and Case Study.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Skills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ACC-ICT-3002-1.1 Cyber Security | A1 identify risks; A2 protect information; A3 interpret and escalate threats.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ACC-ICT-3002-1.1 Cyber Security | A1 identify risks; A2 protect information; A3 interpret and escalate threats.</a:t>
            </a:r>
          </a:p>
        </p:txBody>
      </p:sp>
      <p:pic>
        <p:nvPicPr>
          <p:cNvPr id="15" name="Picture 14" descr="image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ACC-ICT-3002-1.1 Cyber Security | A1 identify risks; A2 protect information; A3 interpret and escalate threats.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Learning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scam risks; protect personal and business information; interpret and escalate incidents.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scam risks; protect personal and business information; interpret and escalate incidents.</a:t>
            </a:r>
          </a:p>
        </p:txBody>
      </p:sp>
      <p:pic>
        <p:nvPicPr>
          <p:cNvPr id="15" name="Picture 14" descr="imag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Identify scam risks; protect personal and business information; interpret and escalate incidents.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Course Material Download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Sign in to the LMS, open this course, select Courseware, and download the learner slide PDF, guide and activities.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Sign in to the LMS, open this course, select Courseware, and download the learner slide PDF, guide and activities.</a:t>
            </a:r>
          </a:p>
        </p:txBody>
      </p:sp>
      <p:pic>
        <p:nvPicPr>
          <p:cNvPr id="15" name="Picture 14" descr="image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Sign in to the LMS, open this course, select Courseware, and download the learner slide PDF, guide and activities.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Assessment Briefing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Open book using approved course materials. Three WA questions K1–K3 and three Case Study questions A1–A3.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Open book using approved course materials. Three WA questions K1–K3 and three Case Study questions A1–A3.</a:t>
            </a:r>
          </a:p>
        </p:txBody>
      </p:sp>
      <p:pic>
        <p:nvPicPr>
          <p:cNvPr id="15" name="Picture 14" descr="image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Open book using approved course materials. Three WA questions K1–K3 and three Case Study questions A1–A3.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Assessment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304288" cy="2331720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057400"/>
            <a:ext cx="1234440" cy="310896"/>
          </a:xfrm>
          <a:prstGeom prst="roundRect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711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0A1D37"/>
                </a:solidFill>
                <a:latin typeface="Aptos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35808"/>
            <a:ext cx="1975104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C2630"/>
                </a:solidFill>
                <a:latin typeface="Aptos"/>
              </a:rPr>
              <a:t>3 open-ended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611880"/>
            <a:ext cx="1975104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8489"/>
                </a:solidFill>
                <a:latin typeface="Aptos"/>
              </a:rPr>
              <a:t>K1–K3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44368" y="2697480"/>
            <a:ext cx="393192" cy="594360"/>
          </a:xfrm>
          <a:prstGeom prst="rightArrow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0712" y="1874519"/>
            <a:ext cx="230428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75304" y="2057400"/>
            <a:ext cx="1234440" cy="310896"/>
          </a:xfrm>
          <a:prstGeom prst="roundRect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711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0A1D37"/>
                </a:solidFill>
                <a:latin typeface="Aptos"/>
              </a:rPr>
              <a:t>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035808"/>
            <a:ext cx="1975104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C2630"/>
                </a:solidFill>
                <a:latin typeface="Aptos"/>
              </a:rPr>
              <a:t>1 scenario · 3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3611880"/>
            <a:ext cx="1975104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8489"/>
                </a:solidFill>
                <a:latin typeface="Aptos"/>
              </a:rPr>
              <a:t>A1–A3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60720" y="2697480"/>
            <a:ext cx="393192" cy="594360"/>
          </a:xfrm>
          <a:prstGeom prst="rightArrow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7064" y="1874519"/>
            <a:ext cx="2304288" cy="2331720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1656" y="2057400"/>
            <a:ext cx="1234440" cy="310896"/>
          </a:xfrm>
          <a:prstGeom prst="round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20711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0A1D37"/>
                </a:solidFill>
                <a:latin typeface="Aptos"/>
              </a:rPr>
              <a:t>Assessor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035808"/>
            <a:ext cx="1975104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C2630"/>
                </a:solidFill>
                <a:latin typeface="Aptos"/>
              </a:rPr>
              <a:t>Evidence and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611880"/>
            <a:ext cx="1975104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8489"/>
                </a:solidFill>
                <a:latin typeface="Aptos"/>
              </a:rPr>
              <a:t>C / NYC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77072" y="2697480"/>
            <a:ext cx="393192" cy="594360"/>
          </a:xfrm>
          <a:prstGeom prst="rightArrow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43416" y="1874519"/>
            <a:ext cx="230428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08008" y="2057400"/>
            <a:ext cx="1234440" cy="310896"/>
          </a:xfrm>
          <a:prstGeom prst="round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584" y="20711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8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0A1D37"/>
                </a:solidFill>
                <a:latin typeface="Aptos"/>
              </a:rPr>
              <a:t>Sign-off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8008" y="3035808"/>
            <a:ext cx="1975104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C2630"/>
                </a:solidFill>
                <a:latin typeface="Aptos"/>
              </a:rPr>
              <a:t>Feedback and appeal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008" y="3611880"/>
            <a:ext cx="1975104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8489"/>
                </a:solidFill>
                <a:latin typeface="Aptos"/>
              </a:rPr>
              <a:t>Record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800600"/>
            <a:ext cx="106527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A1D37"/>
                </a:solidFill>
                <a:latin typeface="Aptos"/>
              </a:rPr>
              <a:t>Only the question papers are learner-facing. Answer keys remain trainer-only.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Funding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Meet the attendance requirement and be assessed competent in all prescribed assessments.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Meet the attendance requirement and be assessed competent in all prescribed assessments.</a:t>
            </a:r>
          </a:p>
        </p:txBody>
      </p:sp>
      <p:pic>
        <p:nvPicPr>
          <p:cNvPr id="15" name="Picture 14" descr="image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Meet the attendance requirement and be assessed competent in all prescribed assessments.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Safety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Never open live suspicious links or submit real personal, banking or authentication data during activities.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Trainer verifies the stated requirement before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Never open live suspicious links or submit real personal, banking or authentication data during activities.</a:t>
            </a:r>
          </a:p>
        </p:txBody>
      </p:sp>
      <p:pic>
        <p:nvPicPr>
          <p:cNvPr id="15" name="Picture 14" descr="image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Never open live suspicious links or submit real personal, banking or authentication data during activities.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https://www.tertiarycourses.com.sg/wsq-navigating-digital-threats-proactive-measures-against-cyber-frauds-and-scams.html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65960"/>
            <a:ext cx="10698480" cy="10058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Topic 1 Identifying Cyber Fraud and Scams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063240"/>
            <a:ext cx="98755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900" b="0">
                <a:solidFill>
                  <a:srgbClr val="B9E5EF"/>
                </a:solidFill>
                <a:latin typeface="Aptos"/>
              </a:rPr>
              <a:t>Trace the attack chain, inspect observable evidence and break the attacker-controlled trust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Annual scam and cybercrime cases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58368" y="141732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58200" y="1481328"/>
            <a:ext cx="3154680" cy="4206240"/>
          </a:xfrm>
          <a:prstGeom prst="roundRect">
            <a:avLst/>
          </a:prstGeom>
          <a:solidFill>
            <a:srgbClr val="0A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737360"/>
            <a:ext cx="260604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What the data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331720"/>
            <a:ext cx="2606040" cy="2514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DDF1F6"/>
                </a:solidFill>
                <a:latin typeface="Aptos"/>
              </a:rPr>
              <a:t>Case volumes and losses are falling, yet the remaining exposure is still material. Use the trend to target controls; do not treat improvement as proof that a contact is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Scam losses remain material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58368" y="141732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58200" y="1481328"/>
            <a:ext cx="3154680" cy="4206240"/>
          </a:xfrm>
          <a:prstGeom prst="roundRect">
            <a:avLst/>
          </a:prstGeom>
          <a:solidFill>
            <a:srgbClr val="0A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737360"/>
            <a:ext cx="260604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What the data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331720"/>
            <a:ext cx="2606040" cy="2514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DDF1F6"/>
                </a:solidFill>
                <a:latin typeface="Aptos"/>
              </a:rPr>
              <a:t>Case volumes and losses are falling, yet the remaining exposure is still material. Use the trend to target controls; do not treat improvement as proof that a contact is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First-half scam cases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58368" y="141732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58200" y="1481328"/>
            <a:ext cx="3154680" cy="4206240"/>
          </a:xfrm>
          <a:prstGeom prst="roundRect">
            <a:avLst/>
          </a:prstGeom>
          <a:solidFill>
            <a:srgbClr val="0A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737360"/>
            <a:ext cx="260604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What the data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331720"/>
            <a:ext cx="2606040" cy="2514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DDF1F6"/>
                </a:solidFill>
                <a:latin typeface="Aptos"/>
              </a:rPr>
              <a:t>Case volumes and losses are falling, yet the remaining exposure is still material. Use the trend to target controls; do not treat improvement as proof that a contact is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2025 victim average loss by age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58368" y="141732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58200" y="1481328"/>
            <a:ext cx="3154680" cy="4206240"/>
          </a:xfrm>
          <a:prstGeom prst="roundRect">
            <a:avLst/>
          </a:prstGeom>
          <a:solidFill>
            <a:srgbClr val="0A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737360"/>
            <a:ext cx="260604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What the data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331720"/>
            <a:ext cx="2606040" cy="2514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DDF1F6"/>
                </a:solidFill>
                <a:latin typeface="Aptos"/>
              </a:rPr>
              <a:t>Case volumes and losses are falling, yet the remaining exposure is still material. Use the trend to target controls; do not treat improvement as proof that a contact is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2025 high-volume scam types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58368" y="141732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58200" y="1481328"/>
            <a:ext cx="3154680" cy="4206240"/>
          </a:xfrm>
          <a:prstGeom prst="roundRect">
            <a:avLst/>
          </a:prstGeom>
          <a:solidFill>
            <a:srgbClr val="0A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737360"/>
            <a:ext cx="260604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What the data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331720"/>
            <a:ext cx="2606040" cy="2514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DDF1F6"/>
                </a:solidFill>
                <a:latin typeface="Aptos"/>
              </a:rPr>
              <a:t>Case volumes and losses are falling, yet the remaining exposure is still material. Use the trend to target controls; do not treat improvement as proof that a contact is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Phishing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Spoofed email or 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credential or card capture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sender-domain mismatch; login link; authentication-code request</a:t>
            </a:r>
          </a:p>
        </p:txBody>
      </p:sp>
      <p:pic>
        <p:nvPicPr>
          <p:cNvPr id="15" name="Picture 14" descr="image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sender-domain mismatch; login link; authentication-code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Phishing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Phishing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Smishing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Malicious SMS or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mobile-first credential capture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unknown sender; shortened link; delivery or refund pretext</a:t>
            </a:r>
          </a:p>
        </p:txBody>
      </p:sp>
      <p:pic>
        <p:nvPicPr>
          <p:cNvPr id="15" name="Picture 14" descr="image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unknown sender; shortened link; delivery or refund pretext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Smishing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Smishing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Vishing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Impersonation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coerced disclosure or transfer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caller-ID trust; authority claim; secrecy; stay-on-line pressure</a:t>
            </a:r>
          </a:p>
        </p:txBody>
      </p:sp>
      <p:pic>
        <p:nvPicPr>
          <p:cNvPr id="15" name="Picture 14" descr="image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caller-ID trust; authority claim; secrecy; stay-on-line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Vishing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Vishing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Government impersonation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False official investigation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transfer to a safe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threat of arrest; transfer demand; remote interview</a:t>
            </a:r>
          </a:p>
        </p:txBody>
      </p:sp>
      <p:pic>
        <p:nvPicPr>
          <p:cNvPr id="15" name="Picture 14" descr="image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4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threat of arrest; transfer demand; remote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Government impersonation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Government impersonation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Bank impersonation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False fraud alert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OTP or digital-token takeover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urgent reversal; app install; authentication request</a:t>
            </a:r>
          </a:p>
        </p:txBody>
      </p:sp>
      <p:pic>
        <p:nvPicPr>
          <p:cNvPr id="15" name="Picture 14" descr="image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urgent reversal; app install; authentication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Bank impersonation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Bank impersonation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Investment scam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Fabricated returns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repeated deposits and blocked withdrawal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guaranteed return; social proof; withdrawal fee</a:t>
            </a:r>
          </a:p>
        </p:txBody>
      </p:sp>
      <p:pic>
        <p:nvPicPr>
          <p:cNvPr id="15" name="Picture 14" descr="image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guaranteed return; social proof; withdrawal 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Investment scam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Investment scam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Job scam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Fake task or recruitment offer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advance payment and escalating deposits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easy income; group chat; pay to unlock commission</a:t>
            </a:r>
          </a:p>
        </p:txBody>
      </p:sp>
      <p:pic>
        <p:nvPicPr>
          <p:cNvPr id="15" name="Picture 14" descr="image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easy income; group chat; pay to unlock commission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Job scam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6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Job scam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E-commerce scam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Non-existent or misrepresented goods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irreversible prepayment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off-platform chat; deposit; price anomaly</a:t>
            </a:r>
          </a:p>
        </p:txBody>
      </p:sp>
      <p:pic>
        <p:nvPicPr>
          <p:cNvPr id="15" name="Picture 14" descr="image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off-platform chat; deposit; price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E-commerce scam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7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E-commerce scam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Tech-support scam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False device infection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remote access and 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unsolicited alert; remote tool; refund or clean-up fee</a:t>
            </a:r>
          </a:p>
        </p:txBody>
      </p:sp>
      <p:pic>
        <p:nvPicPr>
          <p:cNvPr id="15" name="Picture 14" descr="image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unsolicited alert; remote tool; refund or clean-up 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Tech-support scam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Tech-support scam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Business email compromise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Compromised or spoofed mailbox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fraudulent supplier 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changed beneficiary; urgency; process bypass</a:t>
            </a:r>
          </a:p>
        </p:txBody>
      </p:sp>
      <p:pic>
        <p:nvPicPr>
          <p:cNvPr id="15" name="Picture 14" descr="image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changed beneficiary; urgency; process bypass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Business email compromise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Business email compromise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8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Romance scam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Engineered emotional trust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progressive financial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rapid intimacy; crisis; avoidance of live verification</a:t>
            </a:r>
          </a:p>
        </p:txBody>
      </p:sp>
      <p:pic>
        <p:nvPicPr>
          <p:cNvPr id="15" name="Picture 14" descr="image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rapid intimacy; crisis; avoidance of live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Romance scam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Romance scam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9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Malware-enabled scam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Sideloaded or disguised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session theft and device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unknown-source app; accessibility permissions; overlay</a:t>
            </a:r>
          </a:p>
        </p:txBody>
      </p:sp>
      <p:pic>
        <p:nvPicPr>
          <p:cNvPr id="15" name="Picture 14" descr="image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9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unknown-source app; accessibility permissions; overlay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Malware-enabled scam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Malware-enabled scam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QR phishing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Malicious QR destination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hidden redirect to fake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unverifiable code; payment/login request; domain mismatch</a:t>
            </a:r>
          </a:p>
        </p:txBody>
      </p:sp>
      <p:pic>
        <p:nvPicPr>
          <p:cNvPr id="15" name="Picture 14" descr="image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unverifiable code; payment/login request; domain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QR phishing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QR phishing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Account takeover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Stolen credentials or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impersonation and onward fraud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new device; recovery change; unusual messages</a:t>
            </a:r>
          </a:p>
        </p:txBody>
      </p:sp>
      <p:pic>
        <p:nvPicPr>
          <p:cNvPr id="15" name="Picture 14" descr="image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new device; recovery change; unusual 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Account takeover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Account takeover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Money-mule recruitment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Use of personal accounts to move funds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laundering and legal exposure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keep commission; receive and forward; secrecy</a:t>
            </a:r>
          </a:p>
        </p:txBody>
      </p:sp>
      <p:pic>
        <p:nvPicPr>
          <p:cNvPr id="15" name="Picture 14" descr="image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keep commission; receive and forward; secrecy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Money-mule recruitment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Money-mule recruitment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Lottery and prize scam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False reward notification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fee and identity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unexpected win; tax or delivery fee; urgency</a:t>
            </a:r>
          </a:p>
        </p:txBody>
      </p:sp>
      <p:pic>
        <p:nvPicPr>
          <p:cNvPr id="15" name="Picture 14" descr="image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unexpected win; tax or delivery fee; urgency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Lottery and prize scam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Lottery and prize scam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Loan scam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False low-cost credit offer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advance fee and identity theft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guaranteed approval; processing fee; unofficial channel</a:t>
            </a:r>
          </a:p>
        </p:txBody>
      </p:sp>
      <p:pic>
        <p:nvPicPr>
          <p:cNvPr id="15" name="Picture 14" descr="image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guaranteed approval; processing fee; unofficial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Loan scam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Loan scam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Deepfake impersonation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Entry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Synthetic voice or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Asset and loss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high-trust payment manipulation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Observable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unusual request; channel shift; no independent callback</a:t>
            </a:r>
          </a:p>
        </p:txBody>
      </p:sp>
      <p:pic>
        <p:nvPicPr>
          <p:cNvPr id="15" name="Picture 14" descr="image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unusual request; channel shift; no independent callback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https://www.police.gov.sg/-/media/SPF/Media-Room/Statistics/Annual-Scams-and-Cybercrime-Brief-2025/Annual-Scam-and-Cybercrime-Brief-2025.pdf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Deepfake impersonation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how the approach arrived and whether the account or number is independently known.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Pressure and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emotional pressure from the concrete request for data, access or money.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pic>
        <p:nvPicPr>
          <p:cNvPr id="15" name="Picture 14" descr="image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Move to a trusted channel before any disclosure, installation, authentication or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https://www.occ.gov/topics/consumers-and-communities/consumer-protection/fraud-resources/online-and-digital-scams.html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Deepfake impersonation case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State only what the sender claims; do not treat identity cues as verified.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domain, number, URL, payment route, authentication request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pic>
        <p:nvPicPr>
          <p:cNvPr id="15" name="Picture 14" descr="image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Block and report when independent verification fails or high-risk actions are requested.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https://www.fortinet.com/resources/cyberglossary/internet-fraud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65960"/>
            <a:ext cx="10698480" cy="10058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Topic 2 Assessing and Protecting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063240"/>
            <a:ext cx="98755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900" b="0">
                <a:solidFill>
                  <a:srgbClr val="B9E5EF"/>
                </a:solidFill>
                <a:latin typeface="Aptos"/>
              </a:rPr>
              <a:t>Layer identity, device, account and payment controls around the routes scammers exploit.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Independent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Move to contact data obtained outside the suspicious message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Breaks the scammer-controlled trust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Independent verification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Passkeys and phishing-resistant MFA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Bind authentication to the legitimate origin and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Reduces credential replay and OTP interception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Passkeys and phishing-resistant MFA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Password 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Generate unique credentials and match saved origins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Prevents password reuse and exposes look-alike domains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Password manager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Device patching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supported operating-system and browser fixes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Removes known exploit paths used by malicious sites and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Device patching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Unknown-source restriction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Block sideloading and risky accessibility permissions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Interrupts malware-enabled scam installation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Unknown-source restriction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Session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Inspect devices, sessions, forwarding and recovery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Detects persistence after credential compromise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Session review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Transaction alerts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immediately on transfers, payees and card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Shortens detection and bank-contact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6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Transaction alerts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Transfer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 routine exposure and require deliberate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Reduces maximum loss from one compromised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Transfer limits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Money 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protected funds from digitally transferable balances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Limits funds reachable through online compromise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Money Lock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Maker-checker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Separate request, verification and payment release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Stops a single compromised mailbox from authorising 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pic>
        <p:nvPicPr>
          <p:cNvPr id="15" name="Picture 14" descr="image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pic>
        <p:nvPicPr>
          <p:cNvPr id="16" name="Picture 15" descr="image1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063240"/>
            <a:ext cx="2898648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Maker-checker approval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pic>
        <p:nvPicPr>
          <p:cNvPr id="15" name="Picture 14" descr="image1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444752"/>
            <a:ext cx="2898648" cy="1444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Beneficiary callback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Verify account changes through a known channel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Targets business email compromise and invoice diversion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Beneficiary callback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ScamShield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Check and report suspicious numbers, messages and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Adds community and SPF-informed detection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ScamShield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Privacy minimisation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Limit public identity, role and relationship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Reduces material available for tailored pretexts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Privacy minimisation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Offline 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Keep tested, disconnected recovery copies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Reduces ransomware leverage and preserves business continuity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Offline backup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Incident rehearsal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Configuration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Practice evidence, bank, police and internal escalation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Attack path interrupted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Reduces delay and omissions under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Verification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Capture the enabled state, owner, timestamp and residual risk without exposing secrets.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https://www.bitdefender.com/en-us/business/infozone/what-is-cyber-fraud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Incident rehearsal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Scenario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the control to a simulated urgent request, unusual login or changed payment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Expected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workflow blocks, challenges, limits or rapidly detects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Failure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Escalate when the control is absent, bypassed, misconfigured or produces ambiguous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Activity 1 bridge: Scam Signal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Classify a suspicious contact using channel, claim, pressure, requested action and payment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Completed signal matrix with risk score and decision rationale.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Every decision cites at least two observable indicators; no decision relies only on spelling or grammar.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Every decision cites at least two observable indicators; no decision relies only on spelling or grammar.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activities/activity-01-scam-signal-triage/ACTIVITY-GUIDE.md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Activity 2 bridge: Phishing URL and Header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Inspect a simulated phishing message without opening its link or attachment.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Annotated header and URL decomposition with disposition.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registrable domain and authentication result are stated correctly and no live suspect link is opened.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registrable domain and authentication result are stated correctly and no live suspect link is opened.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activities/activity-02-phishing-url-header-analysis/ACTIVITY-GUIDE.md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Activity 3 bridge: Independent Verification Drill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Break the scammer-controlled channel and verify a claim through trusted contact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Verification log and trust-boundary explanation.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 sender-provided telephone number, link or QR code is used for verification.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No sender-provided telephone number, link or QR code is used for verification.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activities/activity-03-independent-verification/ACTIVITY-GUIDE.md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Activity 4 bridge: Account and Device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Apply layered safeguards that reduce credential, session and malware-enabled fraud.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Hardening checklist with redacted screenshots and residual risks.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Credentials and recovery codes are absent; each control names the attack path it interrupts.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Credentials and recovery codes are absent; each control names the attack path it interrupts.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activities/activity-04-account-device-hardening/ACTIVITY-GUIDE.md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Activity 5 bridge: ScamShield Check and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Use ScamShield resources to check and report a simulated suspicious message safely.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ScamShield check record, redacted report example and limitations note.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Only simulated data is submitted; the learner distinguishes a tool result from proof of legitimacy.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Only simulated data is submitted; the learner distinguishes a tool result from proof of legitimacy.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activities/activity-05-scamshield-check-report/ACTIVITY-GUIDE.md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Activity 6 bridge: Financial Control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Design preventive and detective controls for a personal or small-business payment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Payment control map, approval matrix and scenario test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design separates request, verification and approval, and names at least one preventive and one detective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design separates request, verification and approval, and names at least one preventive and one detective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activities/activity-06-financial-control-plan/ACTIVITY-GUIDE.md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65960"/>
            <a:ext cx="10698480" cy="10058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Topic 3 Responding to Cyber Security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063240"/>
            <a:ext cx="98755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900" b="0">
                <a:solidFill>
                  <a:srgbClr val="B9E5EF"/>
                </a:solidFill>
                <a:latin typeface="Aptos"/>
              </a:rPr>
              <a:t>Contain loss, preserve evidence and route verified facts to the parties who can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cident-response-singap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Stop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End calls and messages; do not follow new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prevents further coercion and data disclosure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Stop interaction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Protect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Contact the bank through an official channel and request urgent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maximises the chance of stopping or tracing transfers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Protect money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Isolate compromise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Disconnect a suspected infected device while preserving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limits attacker access without erasing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Isolate compromise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Preserve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Save originals, screenshots, headers, numbers, URLs and transaction 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supports bank, platform and police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Preserve evidence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Secure accounts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Change exposed credentials from a trusted device and revoke 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closes reused credentials and stolen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Secure accounts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Assess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Identify people, accounts, devices, data and payments affected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sets severity and notification priorities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Assess scope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Report platform abuse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Use the platform reporting path for the account, advert, message or listing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enables removal and ecosystem disruption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Report platform abuse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Use ScamShield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Check or report suspicious contact through official ScamShield 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contributes signals and receives current advice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Use ScamShield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Make a Police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Provide a factual chronology and supporting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creates an official record and supports investigation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Make a Police report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Notify the workplace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Engage security, finance, legal and data-protection roles as applicable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coordinates containment and statutory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Notify the workplace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Track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Maintain actions, owners, reference numbers and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prevents gaps and supports handoffs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Track recovery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Review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Required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Convert the incident into owned corrective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Operational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reduces recurrence and tests whether controls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 to retain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Record time, owner, reference number, source item and observable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https://www.scamshield.gov.sg/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Review controls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Assess financial loss, account or device compromise, personal data, affected people and business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Notify the bank, platform, ScamShield, Police and internal teams according to the facts and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Handoff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recipient can act because the brief contains chronology, evidence IDs, confirmed facts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https://www.police.gov.sg/-/media/SPF/Media-Room/Statistics/Mid-Year-Scam-and-Cybercrime-Brief-2026/Mid-Year-Scam-and-Cybercrime-Brief-2026.pdf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Activity 7 bridge: Incident Evidence Pack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Preserve useful evidence and start containment without destroying the incident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Incident timeline, evidence register and initial containment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chronology is complete, evidence remains unaltered, and containment actions are distinguished from eradication.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chronology is complete, evidence remains unaltered, and containment actions are distinguished from eradication.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activities/activity-07-incident-evidence-pack/ACTIVITY-GUIDE.md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TECHNICAL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Activity 8 bridge: Escalation Tabletop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Route a scam incident to the right internal and external parties using severity and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Escalation matrix, incident brief, notification sequence and after-action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Acceptance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The brief separates facts from assumptions and includes timestamps, evidence references, impact and a clear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The brief separates facts from assumptions and includes timestamps, evidence references, impact and a clear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activities/activity-08-escalation-tabletop/ACTIVITY-GUIDE.md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D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65960"/>
            <a:ext cx="10698480" cy="10058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Assessment and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063240"/>
            <a:ext cx="98755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900" b="0">
                <a:solidFill>
                  <a:srgbClr val="B9E5EF"/>
                </a:solidFill>
                <a:latin typeface="Aptos"/>
              </a:rPr>
              <a:t>Use the evidence models, controls and escalation decisions practised in the eight activities.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Written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Three open-ended questions mapped to K1–K3.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Use the approved course materials and follow the assessor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Three open-ended questions mapped to K1–K3.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Three open-ended questions mapped to K1–K3.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One coherent scenario with three questions mapped to A1–A3.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Use the approved course materials and follow the assessor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One coherent scenario with three questions mapped to A1–A3.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One coherent scenario with three questions mapped to A1–A3.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Assessment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304288" cy="2331720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057400"/>
            <a:ext cx="1234440" cy="310896"/>
          </a:xfrm>
          <a:prstGeom prst="roundRect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711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0A1D37"/>
                </a:solidFill>
                <a:latin typeface="Aptos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35808"/>
            <a:ext cx="1975104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C2630"/>
                </a:solidFill>
                <a:latin typeface="Aptos"/>
              </a:rPr>
              <a:t>3 open-ended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611880"/>
            <a:ext cx="1975104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8489"/>
                </a:solidFill>
                <a:latin typeface="Aptos"/>
              </a:rPr>
              <a:t>K1–K3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44368" y="2697480"/>
            <a:ext cx="393192" cy="594360"/>
          </a:xfrm>
          <a:prstGeom prst="rightArrow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0712" y="1874519"/>
            <a:ext cx="230428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75304" y="2057400"/>
            <a:ext cx="1234440" cy="310896"/>
          </a:xfrm>
          <a:prstGeom prst="roundRect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711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0A1D37"/>
                </a:solidFill>
                <a:latin typeface="Aptos"/>
              </a:rPr>
              <a:t>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035808"/>
            <a:ext cx="1975104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C2630"/>
                </a:solidFill>
                <a:latin typeface="Aptos"/>
              </a:rPr>
              <a:t>1 scenario · 3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3611880"/>
            <a:ext cx="1975104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8489"/>
                </a:solidFill>
                <a:latin typeface="Aptos"/>
              </a:rPr>
              <a:t>A1–A3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60720" y="2697480"/>
            <a:ext cx="393192" cy="594360"/>
          </a:xfrm>
          <a:prstGeom prst="rightArrow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7064" y="1874519"/>
            <a:ext cx="2304288" cy="2331720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1656" y="2057400"/>
            <a:ext cx="1234440" cy="310896"/>
          </a:xfrm>
          <a:prstGeom prst="round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20711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0A1D37"/>
                </a:solidFill>
                <a:latin typeface="Aptos"/>
              </a:rPr>
              <a:t>Assessor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035808"/>
            <a:ext cx="1975104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C2630"/>
                </a:solidFill>
                <a:latin typeface="Aptos"/>
              </a:rPr>
              <a:t>Evidence and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611880"/>
            <a:ext cx="1975104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8489"/>
                </a:solidFill>
                <a:latin typeface="Aptos"/>
              </a:rPr>
              <a:t>C / NYC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77072" y="2697480"/>
            <a:ext cx="393192" cy="594360"/>
          </a:xfrm>
          <a:prstGeom prst="rightArrow">
            <a:avLst/>
          </a:prstGeom>
          <a:solidFill>
            <a:srgbClr val="00A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43416" y="1874519"/>
            <a:ext cx="230428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08008" y="2057400"/>
            <a:ext cx="1234440" cy="310896"/>
          </a:xfrm>
          <a:prstGeom prst="round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584" y="20711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8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0A1D37"/>
                </a:solidFill>
                <a:latin typeface="Aptos"/>
              </a:rPr>
              <a:t>Sign-off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8008" y="3035808"/>
            <a:ext cx="1975104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1C2630"/>
                </a:solidFill>
                <a:latin typeface="Aptos"/>
              </a:rPr>
              <a:t>Feedback and appeal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008" y="3611880"/>
            <a:ext cx="1975104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8489"/>
                </a:solidFill>
                <a:latin typeface="Aptos"/>
              </a:rPr>
              <a:t>Record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800600"/>
            <a:ext cx="106527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A1D37"/>
                </a:solidFill>
                <a:latin typeface="Aptos"/>
              </a:rPr>
              <a:t>Only the question papers are learner-facing. Answer keys remain trainer-only.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Digital Attendance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Complete the mandatory assessment attendance using the trainer-provided SSG QR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Use the approved course materials and follow the assessor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Complete the mandatory assessment attendance using the trainer-provided SSG QR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Complete the mandatory assessment attendance using the trainer-provided SSG QR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TRAQOM and Course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Complete the course feedback and TRAQOM survey in the LMS.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Use the approved course materials and follow the assessor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Complete the course feedback and TRAQOM survey in the LMS.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Complete the course feedback and TRAQOM survey in the LMS.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00A4CF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0A1D37"/>
                </a:solidFill>
                <a:latin typeface="Aptos"/>
              </a:rP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228600"/>
            <a:ext cx="1234440" cy="310896"/>
          </a:xfrm>
          <a:prstGeom prst="roundRect">
            <a:avLst/>
          </a:prstGeom>
          <a:solidFill>
            <a:srgbClr val="0E6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5" y="242316"/>
            <a:ext cx="1161288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Stay calm, break the attacker-controlled channel, verify independently and preserve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417320"/>
            <a:ext cx="242316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Use the approved course materials and follow the assessor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1417320"/>
            <a:ext cx="2423160" cy="3401568"/>
          </a:xfrm>
          <a:prstGeom prst="roundRect">
            <a:avLst/>
          </a:prstGeom>
          <a:solidFill>
            <a:srgbClr val="EFF7FA"/>
          </a:solidFill>
          <a:ln>
            <a:solidFill>
              <a:srgbClr val="D7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81912"/>
            <a:ext cx="2093976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A1D37"/>
                </a:solidFill>
                <a:latin typeface="Aptos"/>
              </a:rPr>
              <a:t>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12848"/>
            <a:ext cx="2093976" cy="22128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Stay calm, break the attacker-controlled channel, verify independently and preserve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0A4CF"/>
                </a:solidFill>
                <a:latin typeface="Aptos"/>
              </a:rPr>
              <a:t>Decision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83480"/>
            <a:ext cx="93268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0A1D37"/>
                </a:solidFill>
                <a:latin typeface="Aptos"/>
              </a:rPr>
              <a:t>Stay calm, break the attacker-controlled channel, verify independently and preserve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E6C79"/>
                </a:solidFill>
                <a:latin typeface="Aptos"/>
              </a:rPr>
              <a:t>© Tertiary Infotech Academy Pte Ltd | UEN 201200696W |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501384"/>
            <a:ext cx="3611880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600" b="0">
                <a:solidFill>
                  <a:srgbClr val="5E6C79"/>
                </a:solidFill>
                <a:latin typeface="Aptos"/>
              </a:rP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