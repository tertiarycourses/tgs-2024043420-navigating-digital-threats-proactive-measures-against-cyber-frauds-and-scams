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 scam and cybercrime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26886</c:v>
                </c:pt>
                <c:pt idx="1">
                  <c:v>33669</c:v>
                </c:pt>
                <c:pt idx="2">
                  <c:v>50376</c:v>
                </c:pt>
                <c:pt idx="3">
                  <c:v>55810</c:v>
                </c:pt>
                <c:pt idx="4">
                  <c:v>41974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Scam cases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23933</c:v>
                </c:pt>
                <c:pt idx="1">
                  <c:v>31728</c:v>
                </c:pt>
                <c:pt idx="2">
                  <c:v>46563</c:v>
                </c:pt>
                <c:pt idx="3">
                  <c:v>51501</c:v>
                </c:pt>
                <c:pt idx="4">
                  <c:v>37308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Losses S$ million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1H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1112.4</c:v>
                </c:pt>
                <c:pt idx="1">
                  <c:v>913.1</c:v>
                </c:pt>
                <c:pt idx="2">
                  <c:v>410.6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Scam cases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1H 2022</c:v>
                </c:pt>
                <c:pt idx="1">
                  <c:v>1H 2023</c:v>
                </c:pt>
                <c:pt idx="2">
                  <c:v>1H 2024</c:v>
                </c:pt>
                <c:pt idx="3">
                  <c:v>1H 2025</c:v>
                </c:pt>
                <c:pt idx="4">
                  <c:v>1H 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13576</c:v>
                </c:pt>
                <c:pt idx="1">
                  <c:v>22853</c:v>
                </c:pt>
                <c:pt idx="2">
                  <c:v>26563</c:v>
                </c:pt>
                <c:pt idx="3">
                  <c:v>19644</c:v>
                </c:pt>
                <c:pt idx="4">
                  <c:v>16821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loss S$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≤19</c:v>
                </c:pt>
                <c:pt idx="1">
                  <c:v>20–29</c:v>
                </c:pt>
                <c:pt idx="2">
                  <c:v>30–49</c:v>
                </c:pt>
                <c:pt idx="3">
                  <c:v>50–64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4918</c:v>
                </c:pt>
                <c:pt idx="1">
                  <c:v>9118</c:v>
                </c:pt>
                <c:pt idx="2">
                  <c:v>22283</c:v>
                </c:pt>
                <c:pt idx="3">
                  <c:v>32983</c:v>
                </c:pt>
                <c:pt idx="4">
                  <c:v>37053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Sheet1!$A$2:$A$6</c:f>
              <c:strCache>
                <c:ptCount val="5"/>
                <c:pt idx="0">
                  <c:v>E-commerce</c:v>
                </c:pt>
                <c:pt idx="1">
                  <c:v>Phishing</c:v>
                </c:pt>
                <c:pt idx="2">
                  <c:v>Job</c:v>
                </c:pt>
                <c:pt idx="3">
                  <c:v>Investment</c:v>
                </c:pt>
                <c:pt idx="4">
                  <c:v>Govt impersonation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6703</c:v>
                </c:pt>
                <c:pt idx="1">
                  <c:v>6264</c:v>
                </c:pt>
                <c:pt idx="2">
                  <c:v>5575</c:v>
                </c:pt>
                <c:pt idx="3">
                  <c:v>5462</c:v>
                </c:pt>
                <c:pt idx="4">
                  <c:v>3363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226939960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am-defense-singapore.png"/>
          <p:cNvPicPr>
            <a:picLocks noChangeAspect="1"/>
          </p:cNvPicPr>
          <p:nvPr/>
        </p:nvPicPr>
        <p:blipFill>
          <a:blip r:embed="rId2"/>
          <a:srcRect l="23425" r="23425"/>
          <a:stretch>
            <a:fillRect/>
          </a:stretch>
        </p:blipFill>
        <p:spPr>
          <a:xfrm>
            <a:off x="5715000" y="0"/>
            <a:ext cx="6476695" cy="6858000"/>
          </a:xfrm>
          <a:prstGeom prst="rect">
            <a:avLst/>
          </a:prstGeom>
          <a:ln w="12700">
            <a:solidFill>
              <a:srgbClr val="D7E2E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WSQ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4617720" cy="2331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Navigating Digital Threats: Proactive Measures Against Cyber Frauds and Scams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4480560" cy="9601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CDEBF5"/>
                </a:solidFill>
                <a:latin typeface="Arial"/>
              </a:rPr>
              <a:t>TGS-2024043420
ACC-ICT-3002-1.1 Cyber Security
Version v10.0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074920"/>
            <a:ext cx="28803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1" y="5074920"/>
            <a:ext cx="274155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897880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Digital Attendance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Complete AM, PM and assessment attendance through the trainer-provided SSG QR.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AM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Scan only the current trainer-displayed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PM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Repeat after lunch for the afternoon session.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Complete the separate assessment attendance.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Confirm the accepted attendance state before leaving.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General Trainer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Use a consistent visual profile for the assigned trainer.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Insert assigned trainer 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List relevant qualifications and certifications.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State industry and adult-learning experience.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Provide the approved contact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About Dr Alfred 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Courseware lead and trainer for applied digital-risk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Founder and adult educator.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AI, cloud and cybersecurity.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Evidence-led applied learning.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Use the official academy channel.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Ground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Protect people and data while practising scam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Simulated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Use only the supplied fictional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Safe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Do not open live suspect links or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Evidence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Support decisions with observable facts.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Participate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Share reasoning without exposing personal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Course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One focused day from recognition through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Morning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Attack chains, signals and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Midday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device and payment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Afternoon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Response, evidence and escalation.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One hour: WA followed by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Skills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ACC-ICT-3002-1.1 Cyber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Identify cyber risks and threats.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Protect personal and business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Interpret and escalate incidents.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Apply controls through eight activities.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Learning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Move from recognition to action with defensible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Identify potential fraud and scam threats.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LO2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Protect information, accounts and funds.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LO3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Interpret and escalate verified incidents.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Transfer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Apply the same reasoning to new scenarios.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Use the LMS as the single learner access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Courseware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Download slides and Learner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Activities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Open the eight activity folders.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Access WA and Case Study papers.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Submission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Upload answers through the assigned course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Assessment Briefing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Demonstrate reasoning, evidence and control selection.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Written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Three open-ended questions, K1–K3.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One scenario, three questions, A1–A3.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Open book using approved materials.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Address every criterion with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Assessment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TRAQOM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Scan the LMS 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7063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9242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Assessment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Complete the SSG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3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MANDATORY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916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235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WA then 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3 questions 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OPEN BOOK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34071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55863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5863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3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Submit on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3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Upload responses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0103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7260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76579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8758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8758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Sign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Review result and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182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82896"/>
            <a:ext cx="103327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Candidate papers are learner-facing; answer keys remain trainer-only.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Assessment and Funding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Completion depends on attendance and demonstrated competence.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Meet the required course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Attempt all prescribed instruments.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Competence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Achieve competent evidence for every criterion.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Complete required declarations and sign-off.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Safety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Analyse safely without interacting with real threats.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Never open a live suspicious URL.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Never submit real personal or banking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Never share passwords, OTPs or recovery codes.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Devices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Use supplied screenshots and fictional cases.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1-independent-verification.png"/>
          <p:cNvPicPr>
            <a:picLocks noChangeAspect="1"/>
          </p:cNvPicPr>
          <p:nvPr/>
        </p:nvPicPr>
        <p:blipFill>
          <a:blip r:embed="rId2"/>
          <a:srcRect l="38109" r="8365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  <a:ln w="12700">
            <a:solidFill>
              <a:srgbClr val="D7E2E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61772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Identify Cyber Frauds and Scams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90672"/>
            <a:ext cx="4526280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CFEAF3"/>
                </a:solidFill>
                <a:latin typeface="Arial"/>
              </a:rPr>
              <a:t>Trace how contact becomes trust, action and loss; then break the attacker-controlled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00600"/>
            <a:ext cx="2103120" cy="1234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700" b="1">
                <a:solidFill>
                  <a:srgbClr val="445B74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Annual scam and cybercrime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344168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344168"/>
            <a:ext cx="3063240" cy="452628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276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READ THE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487168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2025 improved from 2024, but 37,308 scam cases still require consistent prevention and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45994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82896"/>
            <a:ext cx="248716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3EDF3"/>
                </a:solidFill>
                <a:latin typeface="Arial"/>
              </a:rPr>
              <a:t>Verify the specific claim through an independent route.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Scam losses remain material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344168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344168"/>
            <a:ext cx="3063240" cy="452628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276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READ THE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487168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Loss reduction does not remove personal exposure. A small number of high-loss incidents can dominate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45994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82896"/>
            <a:ext cx="248716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3EDF3"/>
                </a:solidFill>
                <a:latin typeface="Arial"/>
              </a:rPr>
              <a:t>Verify the specific claim through an independent route.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First-half scam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344168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344168"/>
            <a:ext cx="3063240" cy="452628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276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READ THE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487168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The first-half count declined again in 2026, while attackers continued shifting channels and pretexts.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45994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82896"/>
            <a:ext cx="248716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3EDF3"/>
                </a:solidFill>
                <a:latin typeface="Arial"/>
              </a:rPr>
              <a:t>Verify the specific claim through an independent route.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2025 victim average loss by 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344168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344168"/>
            <a:ext cx="3063240" cy="452628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276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READ THE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487168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Average losses rise across the reported age groups. Controls must protect both frequent and high-impact targets.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45994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82896"/>
            <a:ext cx="248716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3EDF3"/>
                </a:solidFill>
                <a:latin typeface="Arial"/>
              </a:rPr>
              <a:t>Verify the specific claim through an independent route.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2025 high-volume scam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344168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344168"/>
            <a:ext cx="3063240" cy="452628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276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READ THE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057400"/>
            <a:ext cx="2487168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Different pretexts converge on the same actions: disclose, install, authenticate, pay or forward funds.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45994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882896"/>
            <a:ext cx="248716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3EDF3"/>
                </a:solidFill>
                <a:latin typeface="Arial"/>
              </a:rPr>
              <a:t>Verify the specific claim through an independent route.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Phishing: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Spoofed email or site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sender-domain mismatch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credential or card capture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729" y="1353312"/>
            <a:ext cx="1929638" cy="3246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sender-domain mismatch; login link; authentication-code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Phishing: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Phishing: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15" y="1298448"/>
            <a:ext cx="2636266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Smishing: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Malicious SMS or chat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unknown sender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mobile-first credential capture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1935276"/>
            <a:ext cx="2788920" cy="208219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unknown sender; shortened link; delivery or refund pretext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Smishing: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Smishing: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7952"/>
            <a:ext cx="4709160" cy="35158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Vishing: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Impersonation call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caller-ID trust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coerced disclosure or transfer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caller-ID trust; authority claim; secrecy; stay-on-line pressure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Vishing: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Vishing: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Government impersonation: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False official investigation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threat of arrest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transfer to a safe account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1769627"/>
            <a:ext cx="2788920" cy="2413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threat of arrest; transfer demand; remote interview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Government impersonation: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Government impersonation: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78250"/>
            <a:ext cx="4709160" cy="40752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Bank impersonation: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False fraud alert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urgent reversal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OTP or digital-token takeover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2202882"/>
            <a:ext cx="2788920" cy="15469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urgent reversal; app install; authentication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Bank impersonation: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Bank impersonation: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09811"/>
            <a:ext cx="4709160" cy="2612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Investment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Fabricated returns platform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guaranteed return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repeated deposits and blocked withdrawal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2047272"/>
            <a:ext cx="2788920" cy="18581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guaranteed return; social proof; withdrawal fee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Investment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Investment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7060"/>
            <a:ext cx="4709160" cy="3137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Job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Fake task or recruitment offer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easy income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advance payment and escalating deposits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easy income; group chat; pay to unlock commission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Job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Job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E-commerce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Non-existent or misrepresented goods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off-platform chat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irreversible prepayment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2047272"/>
            <a:ext cx="2788920" cy="18581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off-platform chat; deposit; price anomaly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E-commerce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E-commerce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7060"/>
            <a:ext cx="4709160" cy="3137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Tech-support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False device infection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unsolicited alert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remote access and payment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unsolicited alert; remote tool; refund or clean-up fee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Tech-support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Tech-support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Business email compromise: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Compromised or spoofed mailbox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changed beneficiary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fraudulent supplier payment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changed beneficiary; urgency; process bypass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Business email compromise: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Business email compromise: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Romance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Engineered emotional trust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rapid intimacy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progressive financial extraction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rapid intimacy; crisis; avoidance of live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Romance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Romance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Malware-enabled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Sideloaded or disguised application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unknown-source app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session theft and device control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unknown-source app; accessibility permissions; overlay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Malware-enabled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Malware-enabled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QR phishing: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Malicious QR destination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unverifiable 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hidden redirect to fake 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1484527"/>
            <a:ext cx="2788920" cy="29836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unverifiable code; payment/login request; domain mismatch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QR phishing: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QR phishing: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76" y="1298448"/>
            <a:ext cx="4145343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Account takeover: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Stolen credentials or session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new device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impersonation and onward fraud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2064507"/>
            <a:ext cx="2788920" cy="1823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new device; recovery change; unusual messages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Account takeover: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Account takeover: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76161"/>
            <a:ext cx="4709160" cy="30794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Money-mule recruitment: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Use of personal accounts to move funds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keep commission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laundering and legal exposure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keep commission; receive and forward; secrecy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Money-mule recruitment: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Money-mule recruitment: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Lottery and prize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False reward notification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unexpected win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fee and identity extraction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unexpected win; tax or delivery fee; urgency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Lottery and prize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Lottery and prize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Loan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False low-cost credit offer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guaranteed approval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advance fee and identity theft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guaranteed approval; processing fee; unofficial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Loan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Loan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Deepfake impersonation: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Synthetic voice or video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unusual 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high-trust payment manipulation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unusual request; channel shift; no independent callback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Deepfake impersonation: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Deepfake impersonation: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2-financial-controls.png"/>
          <p:cNvPicPr>
            <a:picLocks noChangeAspect="1"/>
          </p:cNvPicPr>
          <p:nvPr/>
        </p:nvPicPr>
        <p:blipFill>
          <a:blip r:embed="rId2"/>
          <a:srcRect l="38109" r="8365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  <a:ln w="12700">
            <a:solidFill>
              <a:srgbClr val="D7E2E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61772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Assess and Protect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90672"/>
            <a:ext cx="4526280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CFEAF3"/>
                </a:solidFill>
                <a:latin typeface="Arial"/>
              </a:rPr>
              <a:t>Layer controls around identity, devices, accounts and payments so one mistake does not become a loss.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00600"/>
            <a:ext cx="2103120" cy="1234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700" b="1">
                <a:solidFill>
                  <a:srgbClr val="445B74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Independent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1-independent-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83215"/>
            <a:ext cx="5074920" cy="285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Move to contact data obtained outside the suspicious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Breaks the scammer-controlled trust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Independent verification: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Passkeys and phishing-resistant MFA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586" y="1280160"/>
            <a:ext cx="3402482" cy="4462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Bind authentication to the legitimate origin and device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credential replay and OTP interception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Passkeys and phishing-resistant MFA: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Password 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Generate unique credentials and match saved origins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Prevents password reuse and exposes look-alike domains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Password manager: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Device patching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31663"/>
            <a:ext cx="5074920" cy="27592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Apply supported operating-system and browser fixes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Removes known exploit paths used by malicious sites and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Device patching: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Unknown-source restriction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4487"/>
            <a:ext cx="5074920" cy="4273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Block sideloading and risky accessibility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Interrupts malware-enabled scam installation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Unknown-source restriction: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Session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41" y="1280160"/>
            <a:ext cx="4201972" cy="4462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Inspect devices, sessions, forwarding and recovery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Detects persistence after credential compromise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Session review: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Transaction alerts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80621"/>
            <a:ext cx="5074920" cy="2861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Notify immediately on transfers, payees and card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Shortens detection and bank-contact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Transaction alerts: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Transfer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730" y="1280160"/>
            <a:ext cx="2076196" cy="4462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Cap routine exposure and require deliberate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maximum loss from one compromised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Transfer limits: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Money 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Separate protected funds from digitally transferable balances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Limits funds reachable through online compromise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Money Lock: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Maker-checker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Separate request, verification and payment release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Stops a single compromised mailbox from authorising 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Maker-checker approval: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Beneficiary callback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Verify account changes through a known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Targets business email compromise and invoice diversion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Beneficiary callback: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ScamShield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96971"/>
            <a:ext cx="5074920" cy="26286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Check and report suspicious numbers, messages and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Adds community and SPF-informed detection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ScamShield: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Privacy minimisation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Limit public identity, role and relationship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material available for tailored pretexts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Privacy minimisation: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Offline 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Keep tested, disconnected recovery copies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ransomware leverage and preserves business continuity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Offline backup: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Incident rehearsal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Practice evidence, bank, police and internal escalation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delay and omissions under pressure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Incident rehearsal: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1: Scam Signal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Classify a suspicious contact using channel, claim, pressure, requested action and payment route.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Completed signal matrix with risk score and decision rationale.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Every decision cites at least two observable indicators; no decision relies only on spelling or grammar.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activities/activity-01-scam-signal-triage/ACTIVITY-GUIDE.md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activities/activity-01-scam-signal-triage/ACTIVITY-GUIDE.md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2: Phishing URL and Header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Inspect a simulated phishing message without opening its link or attachment.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Annotated header and URL decomposition with disposition.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The registrable domain and authentication result are stated correctly and no live suspect link is opened.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activities/activity-02-phishing-url-header-analysis/ACTIVITY-GUIDE.md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activities/activity-02-phishing-url-header-analysis/ACTIVITY-GUIDE.md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3: Independent Verification Drill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Break the scammer-controlled channel and verify a claim through trusted contact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Verification log and trust-boundary explanation.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No sender-provided telephone number, link or QR code is used for verification.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activities/activity-03-independent-verification/ACTIVITY-GUIDE.md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activities/activity-03-independent-verification/ACTIVITY-GUIDE.md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4: Account and Device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Apply layered safeguards that reduce credential, session and malware-enabled fraud.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Hardening checklist with redacted screenshots and residual risks.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Credentials and recovery codes are absent; each control names the attack path it interrupts.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activities/activity-04-account-device-hardening/ACTIVITY-GUIDE.md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activities/activity-04-account-device-hardening/ACTIVITY-GUIDE.md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5: ScamShield Check and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Use ScamShield resources to check and report a simulated suspicious message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ScamShield check record, redacted report example and limitations note.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Only simulated data is submitted; the learner distinguishes a tool result from proof of legitimacy.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activities/activity-05-scamshield-check-report/ACTIVITY-GUIDE.md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activities/activity-05-scamshield-check-report/ACTIVITY-GUIDE.md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6: Financial Control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Design preventive and detective controls for a personal or small-business payment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Payment control map, approval matrix and scenario test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The design separates request, verification and approval, and names at least one preventive and one detective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activities/activity-06-financial-control-plan/ACTIVITY-GUIDE.md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activities/activity-06-financial-control-plan/ACTIVITY-GUIDE.md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3-incident-response-clean.png"/>
          <p:cNvPicPr>
            <a:picLocks noChangeAspect="1"/>
          </p:cNvPicPr>
          <p:nvPr/>
        </p:nvPicPr>
        <p:blipFill>
          <a:blip r:embed="rId2"/>
          <a:srcRect l="38109" r="8365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  <a:ln w="12700">
            <a:solidFill>
              <a:srgbClr val="D7E2E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61772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Respond to Cyber Security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90672"/>
            <a:ext cx="4526280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CFEAF3"/>
                </a:solidFill>
                <a:latin typeface="Arial"/>
              </a:rPr>
              <a:t>Contain loss, preserve the timeline and route verified facts to the parties able to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00600"/>
            <a:ext cx="2103120" cy="1234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700" b="1">
                <a:solidFill>
                  <a:srgbClr val="445B74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Stop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End calls and messages; do not follow new instructions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prevents further coercion and data disclosure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Stop interaction: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Protect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754922"/>
            <a:ext cx="4005072" cy="15676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19" y="5486400"/>
            <a:ext cx="3822191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Operational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Contact the bank through an official channel and request urgent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maximises the chance of stopping or tracing transfers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Protect money: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Isolate compromise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Disconnect a suspected infected device while preserving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limits attacker access without erasing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Isolate compromise: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Preserve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Save originals, screenshots, headers, numbers, URLs and transaction references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supports bank, platform and police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Preserve evidence: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Secure accounts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Change exposed credentials from a trusted device and revoke sessions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closes reused credentials and stolen sessions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Secure accounts: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Identify people, accounts, devices, data and payments affected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sets severity and notification priorities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 scope: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Report platform abuse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204480"/>
            <a:ext cx="4005072" cy="26684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19" y="5486400"/>
            <a:ext cx="3822191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Operational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Use the platform reporting path for the account, advert, message or listing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enables removal and ecosystem disruption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Report platform abuse: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Use ScamShield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501476"/>
            <a:ext cx="4005072" cy="207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19" y="5486400"/>
            <a:ext cx="3822191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Operational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Check or report suspicious contact through official ScamShield resources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contributes signals and receives current advice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Use ScamShield: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Make a Police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Provide a factual chronology and supporting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creates an official record and supports investigation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Make a Police report: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Notify the workplace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Engage security, finance, legal and data-protection roles as applicable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coordinates containment and statutory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Notify the workplace: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Track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Maintain actions, owners, reference numbers and outcomes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prevents gaps and supports handoffs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Track recovery: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Review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Convert the incident into owned corrective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recurrence and tests whether controls 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Review controls: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7: Incident Evidence Pack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Preserve useful evidence and start containment without destroying the incident timeline.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Incident timeline, evidence register and initial containment record.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The chronology is complete, evidence remains unaltered, and containment actions are distinguished from eradication.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activities/activity-07-incident-evidence-pack/ACTIVITY-GUIDE.md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activities/activity-07-incident-evidence-pack/ACTIVITY-GUIDE.md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8: Escalation Tabletop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Route a scam incident to the right internal and external parties using severity and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Escalation matrix, incident brief, notification sequence and after-action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The brief separates facts from assumptions and includes timestamps, evidence references, impact and a clear request.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activities/activity-08-escalation-tabletop/ACTIVITY-GUIDE.md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activities/activity-08-escalation-tabletop/ACTIVITY-GUIDE.md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am-defense-singapore.png"/>
          <p:cNvPicPr>
            <a:picLocks noChangeAspect="1"/>
          </p:cNvPicPr>
          <p:nvPr/>
        </p:nvPicPr>
        <p:blipFill>
          <a:blip r:embed="rId2"/>
          <a:srcRect l="38109" r="8365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  <a:ln w="12700">
            <a:solidFill>
              <a:srgbClr val="D7E2E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61772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Assessment and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90672"/>
            <a:ext cx="4526280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CFEAF3"/>
                </a:solidFill>
                <a:latin typeface="Arial"/>
              </a:rPr>
              <a:t>Apply the same evidence models, controls and escalation logic used across the eight activities.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00600"/>
            <a:ext cx="2103120" cy="1234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700" b="1">
                <a:solidFill>
                  <a:srgbClr val="445B74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Written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85832" cy="39502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874519"/>
            <a:ext cx="1097280" cy="10972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109728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74519"/>
            <a:ext cx="7406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D1F36"/>
                </a:solidFill>
                <a:latin typeface="Arial"/>
              </a:rPr>
              <a:t>Three open-ended questions mapped to K1–K3.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72237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Use verified channels · protect credentials and funds · preserve evidence · escalate with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85832" cy="39502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874519"/>
            <a:ext cx="1097280" cy="10972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109728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74519"/>
            <a:ext cx="7406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D1F36"/>
                </a:solidFill>
                <a:latin typeface="Arial"/>
              </a:rPr>
              <a:t>One coherent scenario with three questions mapped to A1–A3.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72237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Use verified channels · protect credentials and funds · preserve evidence · escalate with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Assessment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TRAQOM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Scan the LMS 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7063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9242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Assessment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Complete the SSG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3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MANDATORY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916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235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WA then 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3 questions 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OPEN BOOK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34071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55863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5863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3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Submit on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3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Upload responses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0103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7260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76579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8758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8758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Sign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Review result and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182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82896"/>
            <a:ext cx="103327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Candidate papers are learner-facing; answer keys remain trainer-only.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85832" cy="39502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874519"/>
            <a:ext cx="1097280" cy="10972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109728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74519"/>
            <a:ext cx="7406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D1F36"/>
                </a:solidFill>
                <a:latin typeface="Arial"/>
              </a:rPr>
              <a:t>Complete the assessment attendance using the trainer-provided SSG QR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72237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Use verified channels · protect credentials and funds · preserve evidence · escalate with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TRAQOM and Course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85832" cy="39502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874519"/>
            <a:ext cx="1097280" cy="10972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109728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74519"/>
            <a:ext cx="7406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D1F36"/>
                </a:solidFill>
                <a:latin typeface="Arial"/>
              </a:rPr>
              <a:t>Complete the course feedback and required TRAQOM survey through the LMS.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72237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Use verified channels · protect credentials and funds · preserve evidence · escalate with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85832" cy="39502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874519"/>
            <a:ext cx="1097280" cy="10972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109728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74519"/>
            <a:ext cx="7406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D1F36"/>
                </a:solidFill>
                <a:latin typeface="Arial"/>
              </a:rPr>
              <a:t>Stay calm, break the attacker-controlled channel, verify independently and preserve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72237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Use verified channels · protect credentials and funds · preserve evidence · escalate with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